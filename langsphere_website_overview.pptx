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D6C2"/>
    <a:srgbClr val="FF7846"/>
    <a:srgbClr val="F3B449"/>
    <a:srgbClr val="040F11"/>
    <a:srgbClr val="06181B"/>
    <a:srgbClr val="145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" Target="../slides/slide6.xml"/><Relationship Id="rId13" Type="http://schemas.openxmlformats.org/officeDocument/2006/relationships/slide" Target="../slides/slide11.xml"/><Relationship Id="rId3" Type="http://schemas.openxmlformats.org/officeDocument/2006/relationships/slide" Target="../slides/slide1.xml"/><Relationship Id="rId7" Type="http://schemas.openxmlformats.org/officeDocument/2006/relationships/slide" Target="../slides/slide5.xml"/><Relationship Id="rId12" Type="http://schemas.openxmlformats.org/officeDocument/2006/relationships/slide" Target="../slides/slide10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" Target="../slides/slide4.xml"/><Relationship Id="rId11" Type="http://schemas.openxmlformats.org/officeDocument/2006/relationships/slide" Target="../slides/slide9.xml"/><Relationship Id="rId5" Type="http://schemas.openxmlformats.org/officeDocument/2006/relationships/slide" Target="../slides/slide3.xml"/><Relationship Id="rId15" Type="http://schemas.openxmlformats.org/officeDocument/2006/relationships/slide" Target="../slides/slide13.xml"/><Relationship Id="rId10" Type="http://schemas.openxmlformats.org/officeDocument/2006/relationships/slide" Target="../slides/slide8.xml"/><Relationship Id="rId4" Type="http://schemas.openxmlformats.org/officeDocument/2006/relationships/slide" Target="../slides/slide2.xml"/><Relationship Id="rId9" Type="http://schemas.openxmlformats.org/officeDocument/2006/relationships/slide" Target="../slides/slide7.xml"/><Relationship Id="rId14" Type="http://schemas.openxmlformats.org/officeDocument/2006/relationships/slide" Target="../slides/slide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06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se Trigger">
            <a:extLst>
              <a:ext uri="{FF2B5EF4-FFF2-40B4-BE49-F238E27FC236}">
                <a16:creationId xmlns:a16="http://schemas.microsoft.com/office/drawing/2014/main" id="{3B0874A8-62F0-1EAF-2709-B413C00A02B0}"/>
              </a:ext>
            </a:extLst>
          </p:cNvPr>
          <p:cNvSpPr/>
          <p:nvPr userDrawn="1"/>
        </p:nvSpPr>
        <p:spPr>
          <a:xfrm>
            <a:off x="-301657" y="498764"/>
            <a:ext cx="13065550" cy="6511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pen Button">
            <a:extLst>
              <a:ext uri="{FF2B5EF4-FFF2-40B4-BE49-F238E27FC236}">
                <a16:creationId xmlns:a16="http://schemas.microsoft.com/office/drawing/2014/main" id="{8B90F07C-7A58-40EF-8956-B3F25B75D492}"/>
              </a:ext>
            </a:extLst>
          </p:cNvPr>
          <p:cNvSpPr/>
          <p:nvPr userDrawn="1"/>
        </p:nvSpPr>
        <p:spPr>
          <a:xfrm>
            <a:off x="436012" y="221481"/>
            <a:ext cx="1385455" cy="267855"/>
          </a:xfrm>
          <a:prstGeom prst="rect">
            <a:avLst/>
          </a:prstGeom>
          <a:solidFill>
            <a:srgbClr val="040F11"/>
          </a:solidFill>
          <a:ln>
            <a:solidFill>
              <a:srgbClr val="F3B4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Aptos Display" panose="020B0004020202020204" pitchFamily="34" charset="0"/>
              </a:rPr>
              <a:t>Page Menu</a:t>
            </a:r>
          </a:p>
        </p:txBody>
      </p:sp>
      <p:sp>
        <p:nvSpPr>
          <p:cNvPr id="3" name="Page Numbers Menu">
            <a:extLst>
              <a:ext uri="{FF2B5EF4-FFF2-40B4-BE49-F238E27FC236}">
                <a16:creationId xmlns:a16="http://schemas.microsoft.com/office/drawing/2014/main" id="{131571AC-59E3-4341-D9E1-3AA74EBC7804}"/>
              </a:ext>
            </a:extLst>
          </p:cNvPr>
          <p:cNvSpPr/>
          <p:nvPr userDrawn="1"/>
        </p:nvSpPr>
        <p:spPr>
          <a:xfrm>
            <a:off x="1893454" y="230909"/>
            <a:ext cx="3038764" cy="2678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</a:rPr>
              <a:t> 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</a:rPr>
              <a:t> 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</a:rPr>
              <a:t> 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</a:rPr>
              <a:t> 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</a:rPr>
              <a:t> 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</a:rPr>
              <a:t> 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07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</a:rPr>
              <a:t> 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08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</a:rPr>
              <a:t> 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09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</a:rPr>
              <a:t> 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</a:rPr>
              <a:t> 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</a:rPr>
              <a:t> 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</a:rPr>
              <a:t> </a:t>
            </a:r>
            <a:r>
              <a:rPr lang="en-IN" sz="1400" dirty="0">
                <a:solidFill>
                  <a:srgbClr val="FF7846"/>
                </a:solidFill>
                <a:latin typeface="Aptos Display" panose="020B0004020202020204" pitchFamily="34" charset="0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13</a:t>
            </a:r>
            <a:endParaRPr lang="en-IN" sz="1400" dirty="0">
              <a:solidFill>
                <a:srgbClr val="FF7846"/>
              </a:solidFill>
              <a:latin typeface="Aptos Display" panose="020B00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" grpId="0"/>
    </p:bldLst>
  </p:timing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angsphere.vercel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2.xml"/><Relationship Id="rId4" Type="http://schemas.openxmlformats.org/officeDocument/2006/relationships/slide" Target="slide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10" Type="http://schemas.openxmlformats.org/officeDocument/2006/relationships/hyperlink" Target="https://langsphere.vercel.app/" TargetMode="External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7566644-E7DC-4D87-BD9F-BCDB984943D2}"/>
              </a:ext>
            </a:extLst>
          </p:cNvPr>
          <p:cNvSpPr>
            <a:spLocks noGrp="1"/>
          </p:cNvSpPr>
          <p:nvPr/>
        </p:nvSpPr>
        <p:spPr>
          <a:xfrm>
            <a:off x="0" y="28575"/>
            <a:ext cx="12192000" cy="6858000"/>
          </a:xfrm>
          <a:prstGeom prst="rect">
            <a:avLst/>
          </a:prstGeom>
          <a:solidFill>
            <a:srgbClr val="06181B"/>
          </a:solidFill>
          <a:ln w="0"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BCC8DD-3128-4853-B508-55099D13E8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FF7846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E69312-B48E-458A-A820-2B45275571E6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6286500" cy="666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3750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 dirty="0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LANGSPHERE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06FF19-0FDC-4A3F-9F12-ACE7A104C0D2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7239000" cy="4476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2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dirty="0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Interactive Programming Languages Directory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308677-B120-449B-B430-1410205B7937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6000750" cy="781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65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0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A clear, searchable reference for exploring language history, technical properties, syntax, ecosystems, and trade-offs.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D33995-D1F8-4CCD-B1BB-9229175A2D6D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1381125" cy="38100"/>
          </a:xfrm>
          <a:prstGeom prst="roundRect">
            <a:avLst>
              <a:gd name="adj" fmla="val 50000"/>
            </a:avLst>
          </a:prstGeom>
          <a:solidFill>
            <a:srgbClr val="F3B449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50AAC1-F05B-472F-9B19-EA3D3830B0F5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Website overview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91E3F9-3DBB-492A-A8EC-BFAAEDE2301D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55D6C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 dirty="0">
                <a:solidFill>
                  <a:srgbClr val="55D6C2"/>
                </a:solidFill>
                <a:latin typeface="Aptos Display"/>
                <a:ea typeface="Aptos Display"/>
                <a:cs typeface="Aptos Dis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langsphere.vercel.app</a:t>
            </a:r>
            <a:endParaRPr sz="1200" b="0" dirty="0">
              <a:solidFill>
                <a:srgbClr val="55D6C2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3A5B15-F536-426D-A007-BD26B9D703DE}"/>
              </a:ext>
            </a:extLst>
          </p:cNvPr>
          <p:cNvSpPr>
            <a:spLocks noGrp="1"/>
          </p:cNvSpPr>
          <p:nvPr/>
        </p:nvSpPr>
        <p:spPr>
          <a:xfrm>
            <a:off x="7477125" y="762000"/>
            <a:ext cx="3762375" cy="4572000"/>
          </a:xfrm>
          <a:prstGeom prst="roundRect">
            <a:avLst>
              <a:gd name="adj" fmla="val 2025"/>
            </a:avLst>
          </a:prstGeom>
          <a:solidFill>
            <a:srgbClr val="0D383B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C10ABE-2B51-42C4-8306-560B2E646A1B}"/>
              </a:ext>
            </a:extLst>
          </p:cNvPr>
          <p:cNvSpPr>
            <a:spLocks noGrp="1"/>
          </p:cNvSpPr>
          <p:nvPr/>
        </p:nvSpPr>
        <p:spPr>
          <a:xfrm>
            <a:off x="8020050" y="1114425"/>
            <a:ext cx="2381250" cy="1238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0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endParaRPr sz="8250" b="1" dirty="0">
              <a:solidFill>
                <a:srgbClr val="FF784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9EDE85-55E4-49CC-8898-EAF78B6EA310}"/>
              </a:ext>
            </a:extLst>
          </p:cNvPr>
          <p:cNvSpPr>
            <a:spLocks noGrp="1"/>
          </p:cNvSpPr>
          <p:nvPr/>
        </p:nvSpPr>
        <p:spPr>
          <a:xfrm>
            <a:off x="7867650" y="2638425"/>
            <a:ext cx="3000375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10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Explore the language landscape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D3F445-6ADE-4A76-9ACB-5B5682912527}"/>
              </a:ext>
            </a:extLst>
          </p:cNvPr>
          <p:cNvSpPr>
            <a:spLocks noGrp="1"/>
          </p:cNvSpPr>
          <p:nvPr/>
        </p:nvSpPr>
        <p:spPr>
          <a:xfrm>
            <a:off x="7867650" y="3457575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Directory  •  Timeline  •  Profiles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AB552C-BD75-61A5-9439-2FD829596C9B}"/>
              </a:ext>
            </a:extLst>
          </p:cNvPr>
          <p:cNvSpPr>
            <a:spLocks noGrp="1"/>
          </p:cNvSpPr>
          <p:nvPr/>
        </p:nvSpPr>
        <p:spPr>
          <a:xfrm>
            <a:off x="698092" y="5605600"/>
            <a:ext cx="1868129" cy="4476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750" b="1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100" b="1" dirty="0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ABHIMANEU R NAIR </a:t>
            </a:r>
          </a:p>
          <a:p>
            <a:pPr algn="ctr">
              <a:defRPr sz="750" b="1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100" b="1" dirty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[ ARN ]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036E9316-2578-A5B7-ADFC-61313DCD65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50070" y="925308"/>
            <a:ext cx="1616484" cy="161648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77D70CA-BCBD-F038-26D8-3A119860CC82}"/>
              </a:ext>
            </a:extLst>
          </p:cNvPr>
          <p:cNvSpPr txBox="1"/>
          <p:nvPr/>
        </p:nvSpPr>
        <p:spPr>
          <a:xfrm>
            <a:off x="7797750" y="4159805"/>
            <a:ext cx="27244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3B449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ptos Display" panose="020B0004020202020204" pitchFamily="34" charset="0"/>
              </a:rPr>
              <a:t>HTML</a:t>
            </a:r>
          </a:p>
          <a:p>
            <a:pPr marL="285750" indent="-285750">
              <a:buClr>
                <a:srgbClr val="F3B449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ptos Display" panose="020B0004020202020204" pitchFamily="34" charset="0"/>
              </a:rPr>
              <a:t>CSS</a:t>
            </a:r>
          </a:p>
          <a:p>
            <a:pPr marL="285750" indent="-285750">
              <a:buClr>
                <a:srgbClr val="F3B449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ptos Display" panose="020B0004020202020204" pitchFamily="34" charset="0"/>
              </a:rPr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970719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2F3E27-5029-4F08-A16A-89A9CD4C137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5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What LangSphere provides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76876F-0302-4510-B2B9-B624ACD3AB26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334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A curated discovery experience for programming languages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26FF432-D139-41EC-B460-DAC998BB243F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5375" cy="38100"/>
          </a:xfrm>
          <a:prstGeom prst="roundRect">
            <a:avLst>
              <a:gd name="adj" fmla="val 50000"/>
            </a:avLst>
          </a:prstGeom>
          <a:solidFill>
            <a:srgbClr val="FF7846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DAD592-EBD2-4FD4-9F18-62EA6F62DCE6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5429250" cy="1238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725" b="0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0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The site turns a broad technical topic into a browsable, consistent directory. Visitors can locate a language, understand its place in history, then open a focused profile for deeper context.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66A517-A552-4741-A907-35992B8BE2A5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61682A-8E82-4904-842F-A3F13B0829E2}"/>
              </a:ext>
            </a:extLst>
          </p:cNvPr>
          <p:cNvSpPr>
            <a:spLocks noGrp="1"/>
          </p:cNvSpPr>
          <p:nvPr/>
        </p:nvSpPr>
        <p:spPr>
          <a:xfrm>
            <a:off x="1257300" y="3667125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75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dirty="0">
                <a:solidFill>
                  <a:schemeClr val="bg1">
                    <a:lumMod val="85000"/>
                  </a:schemeClr>
                </a:solidFill>
                <a:latin typeface="Aptos Display"/>
                <a:ea typeface="Aptos Display"/>
                <a:cs typeface="Aptos Display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Language directory</a:t>
            </a:r>
            <a:endParaRPr sz="1575" b="1" dirty="0">
              <a:solidFill>
                <a:schemeClr val="bg1">
                  <a:lumMod val="85000"/>
                </a:schemeClr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0D8866-03C6-4898-80AD-C34905618B65}"/>
              </a:ext>
            </a:extLst>
          </p:cNvPr>
          <p:cNvSpPr>
            <a:spLocks noGrp="1"/>
          </p:cNvSpPr>
          <p:nvPr/>
        </p:nvSpPr>
        <p:spPr>
          <a:xfrm>
            <a:off x="3857625" y="3648075"/>
            <a:ext cx="6524625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Search and filter languages by domain, paradigm, execution model, and use case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70F7AA-531F-4852-8447-C97A2119A6BA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9715500" cy="38100"/>
          </a:xfrm>
          <a:prstGeom prst="roundRect">
            <a:avLst>
              <a:gd name="adj" fmla="val 50000"/>
            </a:avLst>
          </a:prstGeom>
          <a:solidFill>
            <a:srgbClr val="276469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52849A-9218-4A0B-B2CD-D3CB3144023B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2EF4AB-5C3B-4C7C-82A7-DC2D9C7F0814}"/>
              </a:ext>
            </a:extLst>
          </p:cNvPr>
          <p:cNvSpPr>
            <a:spLocks noGrp="1"/>
          </p:cNvSpPr>
          <p:nvPr/>
        </p:nvSpPr>
        <p:spPr>
          <a:xfrm>
            <a:off x="1257300" y="4524375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75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dirty="0">
                <a:solidFill>
                  <a:schemeClr val="bg1">
                    <a:lumMod val="85000"/>
                  </a:schemeClr>
                </a:solidFill>
                <a:latin typeface="Aptos Display"/>
                <a:ea typeface="Aptos Display"/>
                <a:cs typeface="Aptos Display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History timeline</a:t>
            </a:r>
            <a:endParaRPr sz="1575" b="1" dirty="0">
              <a:solidFill>
                <a:schemeClr val="bg1">
                  <a:lumMod val="85000"/>
                </a:schemeClr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9190C6-B0AC-4376-B13D-9B554BA2F3D3}"/>
              </a:ext>
            </a:extLst>
          </p:cNvPr>
          <p:cNvSpPr>
            <a:spLocks noGrp="1"/>
          </p:cNvSpPr>
          <p:nvPr/>
        </p:nvSpPr>
        <p:spPr>
          <a:xfrm>
            <a:off x="3857625" y="4505325"/>
            <a:ext cx="6524625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Trace releases and creators from foundational systems languages to modern platforms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ACED895-8A15-4AEB-9D26-C0AF0D704220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9715500" cy="38100"/>
          </a:xfrm>
          <a:prstGeom prst="roundRect">
            <a:avLst>
              <a:gd name="adj" fmla="val 50000"/>
            </a:avLst>
          </a:prstGeom>
          <a:solidFill>
            <a:srgbClr val="276469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CF0149-0B16-4B55-9352-C42BF08FC5CB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74B806-0BE4-45E1-B4FF-2ED9092206F5}"/>
              </a:ext>
            </a:extLst>
          </p:cNvPr>
          <p:cNvSpPr>
            <a:spLocks noGrp="1"/>
          </p:cNvSpPr>
          <p:nvPr/>
        </p:nvSpPr>
        <p:spPr>
          <a:xfrm>
            <a:off x="1257300" y="5381625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75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dirty="0">
                <a:solidFill>
                  <a:schemeClr val="bg1">
                    <a:lumMod val="85000"/>
                  </a:schemeClr>
                </a:solidFill>
                <a:latin typeface="Aptos Display"/>
                <a:ea typeface="Aptos Display"/>
                <a:cs typeface="Aptos Display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Language profiles</a:t>
            </a:r>
            <a:endParaRPr sz="1575" b="1" dirty="0">
              <a:solidFill>
                <a:schemeClr val="bg1">
                  <a:lumMod val="85000"/>
                </a:schemeClr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2E19D7-2683-4F9D-902A-C4568E153D49}"/>
              </a:ext>
            </a:extLst>
          </p:cNvPr>
          <p:cNvSpPr>
            <a:spLocks noGrp="1"/>
          </p:cNvSpPr>
          <p:nvPr/>
        </p:nvSpPr>
        <p:spPr>
          <a:xfrm>
            <a:off x="3857625" y="5362575"/>
            <a:ext cx="6524625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Review descriptions, core ideas, technical specifications, syntax, ecosystem, and trade-offs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3F32A00-010C-4709-B41E-EC88BA781EE2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9715500" cy="38100"/>
          </a:xfrm>
          <a:prstGeom prst="roundRect">
            <a:avLst>
              <a:gd name="adj" fmla="val 50000"/>
            </a:avLst>
          </a:prstGeom>
          <a:solidFill>
            <a:srgbClr val="276469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97D3D3-3D39-4641-AC0D-719DD188773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750" b="1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LANGSPHERE  /  WEBSITE OVERVIEW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ECABB6-1F01-4062-813C-1584E1B388BB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143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71978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F8CE2DD-886D-4719-B9E8-09A50B76A5F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endParaRPr sz="1050" b="1" dirty="0">
              <a:solidFill>
                <a:srgbClr val="FF784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874013-F10F-4A4A-984F-35AF43719F0D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5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Directory discovery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AA8CD1-65F4-438E-82DC-2B5E20735B76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334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A single starting point for finding the right language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DE9A134-0189-4ECF-971C-9B44537069F9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5375" cy="38100"/>
          </a:xfrm>
          <a:prstGeom prst="roundRect">
            <a:avLst>
              <a:gd name="adj" fmla="val 50000"/>
            </a:avLst>
          </a:prstGeom>
          <a:solidFill>
            <a:srgbClr val="FF7846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703DC0-AE4B-46A0-9095-7BDABB133BE0}"/>
              </a:ext>
            </a:extLst>
          </p:cNvPr>
          <p:cNvSpPr>
            <a:spLocks noGrp="1"/>
          </p:cNvSpPr>
          <p:nvPr/>
        </p:nvSpPr>
        <p:spPr>
          <a:xfrm>
            <a:off x="542925" y="1981200"/>
            <a:ext cx="6991350" cy="3990975"/>
          </a:xfrm>
          <a:prstGeom prst="roundRect">
            <a:avLst>
              <a:gd name="adj" fmla="val 1909"/>
            </a:avLst>
          </a:prstGeom>
          <a:solidFill>
            <a:srgbClr val="14565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rcRect t="35" b="35"/>
          <a:stretch>
            <a:fillRect/>
          </a:stretch>
        </p:blipFill>
        <p:spPr>
          <a:xfrm>
            <a:off x="609600" y="2047875"/>
            <a:ext cx="6858000" cy="3857625"/>
          </a:xfrm>
          <a:prstGeom prst="roundRect">
            <a:avLst>
              <a:gd name="adj" fmla="val 2963"/>
            </a:avLst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4C75B9-14E1-4FC3-A74D-5DF01BE052E9}"/>
              </a:ext>
            </a:extLst>
          </p:cNvPr>
          <p:cNvSpPr>
            <a:spLocks noGrp="1"/>
          </p:cNvSpPr>
          <p:nvPr/>
        </p:nvSpPr>
        <p:spPr>
          <a:xfrm>
            <a:off x="8020050" y="2143125"/>
            <a:ext cx="26670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650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Navigation cues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0DCBB7-5D01-4930-96C4-F6C8FE819C58}"/>
              </a:ext>
            </a:extLst>
          </p:cNvPr>
          <p:cNvSpPr>
            <a:spLocks noGrp="1"/>
          </p:cNvSpPr>
          <p:nvPr/>
        </p:nvSpPr>
        <p:spPr>
          <a:xfrm>
            <a:off x="8020050" y="2667000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Search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775855-1273-4214-BC6D-4C81F5A821E4}"/>
              </a:ext>
            </a:extLst>
          </p:cNvPr>
          <p:cNvSpPr>
            <a:spLocks noGrp="1"/>
          </p:cNvSpPr>
          <p:nvPr/>
        </p:nvSpPr>
        <p:spPr>
          <a:xfrm>
            <a:off x="8020050" y="2943225"/>
            <a:ext cx="3190875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Find a language by name, creator, paradigm, or feature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276B30-6A28-4421-8854-3CFD9D4EA2F5}"/>
              </a:ext>
            </a:extLst>
          </p:cNvPr>
          <p:cNvSpPr>
            <a:spLocks noGrp="1"/>
          </p:cNvSpPr>
          <p:nvPr/>
        </p:nvSpPr>
        <p:spPr>
          <a:xfrm>
            <a:off x="8020050" y="3667125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Filters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AB39F2-BCD3-4190-9B88-22F4198D760A}"/>
              </a:ext>
            </a:extLst>
          </p:cNvPr>
          <p:cNvSpPr>
            <a:spLocks noGrp="1"/>
          </p:cNvSpPr>
          <p:nvPr/>
        </p:nvSpPr>
        <p:spPr>
          <a:xfrm>
            <a:off x="8020050" y="3943350"/>
            <a:ext cx="3190875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Narrow the list by Systems, Web Development, Data &amp; AI, Functional, Mobile, and more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12092-A316-412F-BFA5-B41EFD6D65D4}"/>
              </a:ext>
            </a:extLst>
          </p:cNvPr>
          <p:cNvSpPr>
            <a:spLocks noGrp="1"/>
          </p:cNvSpPr>
          <p:nvPr/>
        </p:nvSpPr>
        <p:spPr>
          <a:xfrm>
            <a:off x="8020050" y="4667250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Cards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4D9AB4-2218-4D04-B857-14BAE8E85227}"/>
              </a:ext>
            </a:extLst>
          </p:cNvPr>
          <p:cNvSpPr>
            <a:spLocks noGrp="1"/>
          </p:cNvSpPr>
          <p:nvPr/>
        </p:nvSpPr>
        <p:spPr>
          <a:xfrm>
            <a:off x="8020050" y="4943475"/>
            <a:ext cx="3190875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Scan a short description, release year, category tags, and a direct path to details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4E4D8F-AC16-4517-8830-A134D9992B8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750" b="1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LANGSPHERE  /  WEBSITE OVERVIEW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30DA57-1787-4521-B941-A32FB6C0B47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143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66342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1C97C1-DEF6-4652-9C72-7AA837BE4AD6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5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User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6C09C1-A707-408B-A1FB-945771C4DF33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334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From broad exploration to practical understanding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75E78D-DF7D-405A-9DD3-3505A2CA80CD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5375" cy="38100"/>
          </a:xfrm>
          <a:prstGeom prst="roundRect">
            <a:avLst>
              <a:gd name="adj" fmla="val 50000"/>
            </a:avLst>
          </a:prstGeom>
          <a:solidFill>
            <a:srgbClr val="FF7846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8FF529-7120-48CC-BDB4-B1028F9D4D50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2286000" cy="2190750"/>
          </a:xfrm>
          <a:prstGeom prst="roundRect">
            <a:avLst>
              <a:gd name="adj" fmla="val 3478"/>
            </a:avLst>
          </a:prstGeom>
          <a:solidFill>
            <a:srgbClr val="0D383B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52F741-239E-46AB-924C-B564B36D2B33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6F1BFF-4F9E-4D41-B596-2A68BEA269F6}"/>
              </a:ext>
            </a:extLst>
          </p:cNvPr>
          <p:cNvSpPr>
            <a:spLocks noGrp="1"/>
          </p:cNvSpPr>
          <p:nvPr/>
        </p:nvSpPr>
        <p:spPr>
          <a:xfrm>
            <a:off x="876300" y="3152775"/>
            <a:ext cx="1885950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Start in the directory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3B2D08-EBE8-4F0C-85CB-A56D910EB07A}"/>
              </a:ext>
            </a:extLst>
          </p:cNvPr>
          <p:cNvSpPr>
            <a:spLocks noGrp="1"/>
          </p:cNvSpPr>
          <p:nvPr/>
        </p:nvSpPr>
        <p:spPr>
          <a:xfrm>
            <a:off x="876300" y="3743325"/>
            <a:ext cx="1857375" cy="723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Browse the language set or search for a known option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9AEC04-D631-48B6-9D8D-40F07C673147}"/>
              </a:ext>
            </a:extLst>
          </p:cNvPr>
          <p:cNvSpPr>
            <a:spLocks noGrp="1"/>
          </p:cNvSpPr>
          <p:nvPr/>
        </p:nvSpPr>
        <p:spPr>
          <a:xfrm>
            <a:off x="3048000" y="328612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3B449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3B449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E40EBC4-CB38-4D90-8000-85CB3D57F4C9}"/>
              </a:ext>
            </a:extLst>
          </p:cNvPr>
          <p:cNvSpPr>
            <a:spLocks noGrp="1"/>
          </p:cNvSpPr>
          <p:nvPr/>
        </p:nvSpPr>
        <p:spPr>
          <a:xfrm>
            <a:off x="3524250" y="2457450"/>
            <a:ext cx="2286000" cy="2190750"/>
          </a:xfrm>
          <a:prstGeom prst="roundRect">
            <a:avLst>
              <a:gd name="adj" fmla="val 3478"/>
            </a:avLst>
          </a:prstGeom>
          <a:solidFill>
            <a:srgbClr val="0D383B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7A394D-5955-475D-97F9-F371DB8D863B}"/>
              </a:ext>
            </a:extLst>
          </p:cNvPr>
          <p:cNvSpPr>
            <a:spLocks noGrp="1"/>
          </p:cNvSpPr>
          <p:nvPr/>
        </p:nvSpPr>
        <p:spPr>
          <a:xfrm>
            <a:off x="3733800" y="26479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093029-C824-4661-A03D-124E1E8B0BB6}"/>
              </a:ext>
            </a:extLst>
          </p:cNvPr>
          <p:cNvSpPr>
            <a:spLocks noGrp="1"/>
          </p:cNvSpPr>
          <p:nvPr/>
        </p:nvSpPr>
        <p:spPr>
          <a:xfrm>
            <a:off x="3733800" y="3152775"/>
            <a:ext cx="1885950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Refine the 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6B7F48-85F2-4FBF-BEDD-26EDA69C2DAA}"/>
              </a:ext>
            </a:extLst>
          </p:cNvPr>
          <p:cNvSpPr>
            <a:spLocks noGrp="1"/>
          </p:cNvSpPr>
          <p:nvPr/>
        </p:nvSpPr>
        <p:spPr>
          <a:xfrm>
            <a:off x="3733800" y="3743325"/>
            <a:ext cx="1857375" cy="723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Use filters to focus on a paradigm, platform, or technical characteristic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34D58B-985C-4AEB-BC30-E34D9C0574A8}"/>
              </a:ext>
            </a:extLst>
          </p:cNvPr>
          <p:cNvSpPr>
            <a:spLocks noGrp="1"/>
          </p:cNvSpPr>
          <p:nvPr/>
        </p:nvSpPr>
        <p:spPr>
          <a:xfrm>
            <a:off x="5905500" y="328612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3B449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3B449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C694F2F-7B81-499A-ACBE-6B8D623E79BE}"/>
              </a:ext>
            </a:extLst>
          </p:cNvPr>
          <p:cNvSpPr>
            <a:spLocks noGrp="1"/>
          </p:cNvSpPr>
          <p:nvPr/>
        </p:nvSpPr>
        <p:spPr>
          <a:xfrm>
            <a:off x="6381750" y="2457450"/>
            <a:ext cx="2286000" cy="2190750"/>
          </a:xfrm>
          <a:prstGeom prst="roundRect">
            <a:avLst>
              <a:gd name="adj" fmla="val 3478"/>
            </a:avLst>
          </a:prstGeom>
          <a:solidFill>
            <a:srgbClr val="0D383B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CCA301-81D6-43F8-A604-BF7FB29D909E}"/>
              </a:ext>
            </a:extLst>
          </p:cNvPr>
          <p:cNvSpPr>
            <a:spLocks noGrp="1"/>
          </p:cNvSpPr>
          <p:nvPr/>
        </p:nvSpPr>
        <p:spPr>
          <a:xfrm>
            <a:off x="6591300" y="26479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FE3208-C516-4FF5-BAEC-C1D552EEC0AF}"/>
              </a:ext>
            </a:extLst>
          </p:cNvPr>
          <p:cNvSpPr>
            <a:spLocks noGrp="1"/>
          </p:cNvSpPr>
          <p:nvPr/>
        </p:nvSpPr>
        <p:spPr>
          <a:xfrm>
            <a:off x="6591300" y="3152775"/>
            <a:ext cx="1885950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Open a language profile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AE3EAC-D97A-4688-B1E8-EFA989F2406C}"/>
              </a:ext>
            </a:extLst>
          </p:cNvPr>
          <p:cNvSpPr>
            <a:spLocks noGrp="1"/>
          </p:cNvSpPr>
          <p:nvPr/>
        </p:nvSpPr>
        <p:spPr>
          <a:xfrm>
            <a:off x="6591300" y="3743325"/>
            <a:ext cx="1857375" cy="723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Move from the summary card into structured detail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6E433D-AF8B-4CFA-93FC-C9F202EAA66A}"/>
              </a:ext>
            </a:extLst>
          </p:cNvPr>
          <p:cNvSpPr>
            <a:spLocks noGrp="1"/>
          </p:cNvSpPr>
          <p:nvPr/>
        </p:nvSpPr>
        <p:spPr>
          <a:xfrm>
            <a:off x="8763000" y="328612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3B449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3B449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33DE386-E14D-4894-948B-7221B3972B51}"/>
              </a:ext>
            </a:extLst>
          </p:cNvPr>
          <p:cNvSpPr>
            <a:spLocks noGrp="1"/>
          </p:cNvSpPr>
          <p:nvPr/>
        </p:nvSpPr>
        <p:spPr>
          <a:xfrm>
            <a:off x="9239250" y="2457450"/>
            <a:ext cx="2286000" cy="2190750"/>
          </a:xfrm>
          <a:prstGeom prst="roundRect">
            <a:avLst>
              <a:gd name="adj" fmla="val 3478"/>
            </a:avLst>
          </a:prstGeom>
          <a:solidFill>
            <a:srgbClr val="0D383B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779AEB-B77B-49C2-8E03-F21C5B5ADD89}"/>
              </a:ext>
            </a:extLst>
          </p:cNvPr>
          <p:cNvSpPr>
            <a:spLocks noGrp="1"/>
          </p:cNvSpPr>
          <p:nvPr/>
        </p:nvSpPr>
        <p:spPr>
          <a:xfrm>
            <a:off x="9448800" y="26479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E6C506-3FE6-4724-B381-3DD99A23446E}"/>
              </a:ext>
            </a:extLst>
          </p:cNvPr>
          <p:cNvSpPr>
            <a:spLocks noGrp="1"/>
          </p:cNvSpPr>
          <p:nvPr/>
        </p:nvSpPr>
        <p:spPr>
          <a:xfrm>
            <a:off x="9448800" y="3152775"/>
            <a:ext cx="1885950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Compare and learn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609AD6-ABAA-4592-ABDA-2D45B241DCE6}"/>
              </a:ext>
            </a:extLst>
          </p:cNvPr>
          <p:cNvSpPr>
            <a:spLocks noGrp="1"/>
          </p:cNvSpPr>
          <p:nvPr/>
        </p:nvSpPr>
        <p:spPr>
          <a:xfrm>
            <a:off x="9448800" y="3743325"/>
            <a:ext cx="1857375" cy="723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Use specifications, syntax, ecosystem notes, and pros and cons to evaluate fit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BF2F22-4003-4C92-8DB8-8DACE7E32F59}"/>
              </a:ext>
            </a:extLst>
          </p:cNvPr>
          <p:cNvSpPr>
            <a:spLocks noGrp="1"/>
          </p:cNvSpPr>
          <p:nvPr/>
        </p:nvSpPr>
        <p:spPr>
          <a:xfrm>
            <a:off x="666750" y="5286375"/>
            <a:ext cx="981075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The progression keeps the first decision lightweight and provides more technical depth only after a visitor selects a language.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AB1851-C556-4105-A839-9C8A672C304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750" b="1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LANGSPHERE  /  WEBSITE OVERVIEW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738F045-29C1-46F4-B737-F00E7ECB5A4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143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03381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E67DC9-C4DC-4927-8916-727AF58C40B5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5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Language profile structure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C53CF8-B0D5-4439-9C30-4F286CDDDD80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334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A repeatable framework for explaining each language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8145D2-C2E7-4EB4-910B-ECC48902A951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5375" cy="38100"/>
          </a:xfrm>
          <a:prstGeom prst="roundRect">
            <a:avLst>
              <a:gd name="adj" fmla="val 50000"/>
            </a:avLst>
          </a:prstGeom>
          <a:solidFill>
            <a:srgbClr val="FF7846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533189-07C2-4A56-A766-E7402F9CE186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dirty="0">
                <a:solidFill>
                  <a:srgbClr val="FF7846"/>
                </a:solidFill>
                <a:latin typeface="Aptos Display"/>
                <a:ea typeface="Aptos Display"/>
                <a:cs typeface="Aptos Display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Profile</a:t>
            </a:r>
            <a:endParaRPr sz="1575" b="1" dirty="0">
              <a:solidFill>
                <a:srgbClr val="FF784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A8AFC3-263C-4FAC-AAF5-6241D15CD670}"/>
              </a:ext>
            </a:extLst>
          </p:cNvPr>
          <p:cNvSpPr>
            <a:spLocks noGrp="1"/>
          </p:cNvSpPr>
          <p:nvPr/>
        </p:nvSpPr>
        <p:spPr>
          <a:xfrm>
            <a:off x="666750" y="2505075"/>
            <a:ext cx="41910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Identity, creator, release year, and a concise description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4644100-2F39-4291-BCD6-B2FD86931965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4429125" cy="38100"/>
          </a:xfrm>
          <a:prstGeom prst="roundRect">
            <a:avLst>
              <a:gd name="adj" fmla="val 50000"/>
            </a:avLst>
          </a:prstGeom>
          <a:solidFill>
            <a:srgbClr val="276469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4F6870-C777-403E-8098-5E1F31C51DF2}"/>
              </a:ext>
            </a:extLst>
          </p:cNvPr>
          <p:cNvSpPr>
            <a:spLocks noGrp="1"/>
          </p:cNvSpPr>
          <p:nvPr/>
        </p:nvSpPr>
        <p:spPr>
          <a:xfrm>
            <a:off x="6000750" y="219075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75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dirty="0">
                <a:solidFill>
                  <a:srgbClr val="FF7846"/>
                </a:solidFill>
                <a:latin typeface="Aptos Display"/>
                <a:ea typeface="Aptos Display"/>
                <a:cs typeface="Aptos Display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Overview</a:t>
            </a:r>
            <a:endParaRPr sz="1575" b="1" dirty="0">
              <a:solidFill>
                <a:srgbClr val="FF784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EF1FE6-7B8F-4783-847E-058834B36374}"/>
              </a:ext>
            </a:extLst>
          </p:cNvPr>
          <p:cNvSpPr>
            <a:spLocks noGrp="1"/>
          </p:cNvSpPr>
          <p:nvPr/>
        </p:nvSpPr>
        <p:spPr>
          <a:xfrm>
            <a:off x="6000750" y="2505075"/>
            <a:ext cx="41910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Primary philosophy and notable features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5B27C4-6B62-43B0-8B26-EBEB494D2E69}"/>
              </a:ext>
            </a:extLst>
          </p:cNvPr>
          <p:cNvSpPr>
            <a:spLocks noGrp="1"/>
          </p:cNvSpPr>
          <p:nvPr/>
        </p:nvSpPr>
        <p:spPr>
          <a:xfrm>
            <a:off x="6000750" y="3067050"/>
            <a:ext cx="4429125" cy="38100"/>
          </a:xfrm>
          <a:prstGeom prst="roundRect">
            <a:avLst>
              <a:gd name="adj" fmla="val 50000"/>
            </a:avLst>
          </a:prstGeom>
          <a:solidFill>
            <a:srgbClr val="276469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hlinkClick r:id="rId4" action="ppaction://hlinksldjump"/>
            <a:extLst>
              <a:ext uri="{FF2B5EF4-FFF2-40B4-BE49-F238E27FC236}">
                <a16:creationId xmlns:a16="http://schemas.microsoft.com/office/drawing/2014/main" id="{6366C0E4-E0B9-40B7-B5DE-6B4FBA5BA7F9}"/>
              </a:ext>
            </a:extLst>
          </p:cNvPr>
          <p:cNvSpPr>
            <a:spLocks noGrp="1"/>
          </p:cNvSpPr>
          <p:nvPr/>
        </p:nvSpPr>
        <p:spPr>
          <a:xfrm>
            <a:off x="666750" y="340995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75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dirty="0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Beginner guide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F278BB-5D6D-4FD6-9048-1752C180802B}"/>
              </a:ext>
            </a:extLst>
          </p:cNvPr>
          <p:cNvSpPr>
            <a:spLocks noGrp="1"/>
          </p:cNvSpPr>
          <p:nvPr/>
        </p:nvSpPr>
        <p:spPr>
          <a:xfrm>
            <a:off x="666750" y="3724275"/>
            <a:ext cx="41910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Accessible starting points for new learners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31B860F-ACB3-4213-8D5E-B4BBC3D84597}"/>
              </a:ext>
            </a:extLst>
          </p:cNvPr>
          <p:cNvSpPr>
            <a:spLocks noGrp="1"/>
          </p:cNvSpPr>
          <p:nvPr/>
        </p:nvSpPr>
        <p:spPr>
          <a:xfrm>
            <a:off x="666750" y="4286250"/>
            <a:ext cx="4429125" cy="38100"/>
          </a:xfrm>
          <a:prstGeom prst="roundRect">
            <a:avLst>
              <a:gd name="adj" fmla="val 50000"/>
            </a:avLst>
          </a:prstGeom>
          <a:solidFill>
            <a:srgbClr val="276469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hlinkClick r:id="rId4" action="ppaction://hlinksldjump"/>
            <a:extLst>
              <a:ext uri="{FF2B5EF4-FFF2-40B4-BE49-F238E27FC236}">
                <a16:creationId xmlns:a16="http://schemas.microsoft.com/office/drawing/2014/main" id="{39DCD9DA-EE27-46C7-ACD5-83D58000078B}"/>
              </a:ext>
            </a:extLst>
          </p:cNvPr>
          <p:cNvSpPr>
            <a:spLocks noGrp="1"/>
          </p:cNvSpPr>
          <p:nvPr/>
        </p:nvSpPr>
        <p:spPr>
          <a:xfrm>
            <a:off x="6000750" y="340995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75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dirty="0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Syntax highlight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EBF542-07AD-4C75-84B2-55A5B35B1880}"/>
              </a:ext>
            </a:extLst>
          </p:cNvPr>
          <p:cNvSpPr>
            <a:spLocks noGrp="1"/>
          </p:cNvSpPr>
          <p:nvPr/>
        </p:nvSpPr>
        <p:spPr>
          <a:xfrm>
            <a:off x="6000750" y="3724275"/>
            <a:ext cx="41910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Recognizable code patterns and conventions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CF7F2CC-AED3-44BE-8C06-CF5F17B26D18}"/>
              </a:ext>
            </a:extLst>
          </p:cNvPr>
          <p:cNvSpPr>
            <a:spLocks noGrp="1"/>
          </p:cNvSpPr>
          <p:nvPr/>
        </p:nvSpPr>
        <p:spPr>
          <a:xfrm>
            <a:off x="6000750" y="4286250"/>
            <a:ext cx="4429125" cy="38100"/>
          </a:xfrm>
          <a:prstGeom prst="roundRect">
            <a:avLst>
              <a:gd name="adj" fmla="val 50000"/>
            </a:avLst>
          </a:prstGeom>
          <a:solidFill>
            <a:srgbClr val="276469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hlinkClick r:id="rId5" action="ppaction://hlinksldjump"/>
            <a:extLst>
              <a:ext uri="{FF2B5EF4-FFF2-40B4-BE49-F238E27FC236}">
                <a16:creationId xmlns:a16="http://schemas.microsoft.com/office/drawing/2014/main" id="{AC01B349-83C8-4E31-B6A3-80A6E9CCAFF8}"/>
              </a:ext>
            </a:extLst>
          </p:cNvPr>
          <p:cNvSpPr>
            <a:spLocks noGrp="1"/>
          </p:cNvSpPr>
          <p:nvPr/>
        </p:nvSpPr>
        <p:spPr>
          <a:xfrm>
            <a:off x="666750" y="462915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75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dirty="0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Ecosystem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927570-0E43-4DA8-B84A-961BF1F98D20}"/>
              </a:ext>
            </a:extLst>
          </p:cNvPr>
          <p:cNvSpPr>
            <a:spLocks noGrp="1"/>
          </p:cNvSpPr>
          <p:nvPr/>
        </p:nvSpPr>
        <p:spPr>
          <a:xfrm>
            <a:off x="666750" y="4943475"/>
            <a:ext cx="41910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Tools, platforms, libraries, and community context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926D066-B5C3-4973-93C8-B859A759FE38}"/>
              </a:ext>
            </a:extLst>
          </p:cNvPr>
          <p:cNvSpPr>
            <a:spLocks noGrp="1"/>
          </p:cNvSpPr>
          <p:nvPr/>
        </p:nvSpPr>
        <p:spPr>
          <a:xfrm>
            <a:off x="666750" y="5505450"/>
            <a:ext cx="4429125" cy="38100"/>
          </a:xfrm>
          <a:prstGeom prst="roundRect">
            <a:avLst>
              <a:gd name="adj" fmla="val 50000"/>
            </a:avLst>
          </a:prstGeom>
          <a:solidFill>
            <a:srgbClr val="276469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0" name="Rectangle 19">
            <a:hlinkClick r:id="rId5" action="ppaction://hlinksldjump"/>
            <a:extLst>
              <a:ext uri="{FF2B5EF4-FFF2-40B4-BE49-F238E27FC236}">
                <a16:creationId xmlns:a16="http://schemas.microsoft.com/office/drawing/2014/main" id="{0874C7F6-8B66-47A3-B15A-37F2406DB660}"/>
              </a:ext>
            </a:extLst>
          </p:cNvPr>
          <p:cNvSpPr>
            <a:spLocks noGrp="1"/>
          </p:cNvSpPr>
          <p:nvPr/>
        </p:nvSpPr>
        <p:spPr>
          <a:xfrm>
            <a:off x="6000750" y="462915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75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dirty="0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Pros &amp; cons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B88A1D-FB82-430F-AF2A-828EAD80ED8B}"/>
              </a:ext>
            </a:extLst>
          </p:cNvPr>
          <p:cNvSpPr>
            <a:spLocks noGrp="1"/>
          </p:cNvSpPr>
          <p:nvPr/>
        </p:nvSpPr>
        <p:spPr>
          <a:xfrm>
            <a:off x="6000750" y="4943475"/>
            <a:ext cx="41910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Useful strengths and limits for evaluation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9E5A439-93A4-412E-A097-B77CA0446BB8}"/>
              </a:ext>
            </a:extLst>
          </p:cNvPr>
          <p:cNvSpPr>
            <a:spLocks noGrp="1"/>
          </p:cNvSpPr>
          <p:nvPr/>
        </p:nvSpPr>
        <p:spPr>
          <a:xfrm>
            <a:off x="6000750" y="5505450"/>
            <a:ext cx="4429125" cy="38100"/>
          </a:xfrm>
          <a:prstGeom prst="roundRect">
            <a:avLst>
              <a:gd name="adj" fmla="val 50000"/>
            </a:avLst>
          </a:prstGeom>
          <a:solidFill>
            <a:srgbClr val="276469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B72433-DAF5-4890-90A9-31E32ED5F269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750" b="1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LANGSPHERE  /  WEBSITE OVERVIEW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0931D7-5B22-4BEF-86D8-192F6B64A2A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143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75790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EED140-148C-4A03-8F72-CD3F72B0AA8F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5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Who LangSphere serves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330853-E451-4021-BEE7-2F0714A0AD2B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334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The directory supports learning, selection, and technical context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CA92A0-3394-4777-90C3-273F3B8B5A8D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5375" cy="38100"/>
          </a:xfrm>
          <a:prstGeom prst="roundRect">
            <a:avLst>
              <a:gd name="adj" fmla="val 50000"/>
            </a:avLst>
          </a:prstGeom>
          <a:solidFill>
            <a:srgbClr val="FF7846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712A90C-51FD-4DAB-86CD-B3D552742387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228600" cy="571500"/>
          </a:xfrm>
          <a:prstGeom prst="roundRect">
            <a:avLst>
              <a:gd name="adj" fmla="val 33333"/>
            </a:avLst>
          </a:prstGeom>
          <a:solidFill>
            <a:srgbClr val="FF7846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4F431E-4497-4B58-B43F-2DAB0EC5CAC5}"/>
              </a:ext>
            </a:extLst>
          </p:cNvPr>
          <p:cNvSpPr>
            <a:spLocks noGrp="1"/>
          </p:cNvSpPr>
          <p:nvPr/>
        </p:nvSpPr>
        <p:spPr>
          <a:xfrm>
            <a:off x="1104900" y="2209800"/>
            <a:ext cx="2381250" cy="2952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6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Developers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2FCE4C-BB59-4A93-992A-9785D352D56D}"/>
              </a:ext>
            </a:extLst>
          </p:cNvPr>
          <p:cNvSpPr>
            <a:spLocks noGrp="1"/>
          </p:cNvSpPr>
          <p:nvPr/>
        </p:nvSpPr>
        <p:spPr>
          <a:xfrm>
            <a:off x="3714750" y="2228850"/>
            <a:ext cx="657225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Quickly shortlist languages for a project, platform, or programming style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F43470-AD40-4ECA-84C9-0EBE0A96B0C9}"/>
              </a:ext>
            </a:extLst>
          </p:cNvPr>
          <p:cNvSpPr>
            <a:spLocks noGrp="1"/>
          </p:cNvSpPr>
          <p:nvPr/>
        </p:nvSpPr>
        <p:spPr>
          <a:xfrm>
            <a:off x="609600" y="3152775"/>
            <a:ext cx="228600" cy="571500"/>
          </a:xfrm>
          <a:prstGeom prst="roundRect">
            <a:avLst>
              <a:gd name="adj" fmla="val 33333"/>
            </a:avLst>
          </a:prstGeom>
          <a:solidFill>
            <a:srgbClr val="14565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FDE41E-FFAA-447F-9882-8AAC9ABBAA0A}"/>
              </a:ext>
            </a:extLst>
          </p:cNvPr>
          <p:cNvSpPr>
            <a:spLocks noGrp="1"/>
          </p:cNvSpPr>
          <p:nvPr/>
        </p:nvSpPr>
        <p:spPr>
          <a:xfrm>
            <a:off x="1104900" y="3152775"/>
            <a:ext cx="2381250" cy="2952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6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Students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4F6A19-3AA2-4D9F-8299-265FEF821CB3}"/>
              </a:ext>
            </a:extLst>
          </p:cNvPr>
          <p:cNvSpPr>
            <a:spLocks noGrp="1"/>
          </p:cNvSpPr>
          <p:nvPr/>
        </p:nvSpPr>
        <p:spPr>
          <a:xfrm>
            <a:off x="3714750" y="3171825"/>
            <a:ext cx="657225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Connect historical context with beginner-friendly concepts and syntax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E61E1D-3CC3-41DA-B06A-CE6119B60138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228600" cy="571500"/>
          </a:xfrm>
          <a:prstGeom prst="roundRect">
            <a:avLst>
              <a:gd name="adj" fmla="val 33333"/>
            </a:avLst>
          </a:prstGeom>
          <a:solidFill>
            <a:srgbClr val="14565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E9B8B3-B3F5-4EF4-B5B3-A5F4212D0A8F}"/>
              </a:ext>
            </a:extLst>
          </p:cNvPr>
          <p:cNvSpPr>
            <a:spLocks noGrp="1"/>
          </p:cNvSpPr>
          <p:nvPr/>
        </p:nvSpPr>
        <p:spPr>
          <a:xfrm>
            <a:off x="1104900" y="4095750"/>
            <a:ext cx="2381250" cy="2952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6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Researchers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16902-6138-480C-9260-51895278427A}"/>
              </a:ext>
            </a:extLst>
          </p:cNvPr>
          <p:cNvSpPr>
            <a:spLocks noGrp="1"/>
          </p:cNvSpPr>
          <p:nvPr/>
        </p:nvSpPr>
        <p:spPr>
          <a:xfrm>
            <a:off x="3714750" y="4114800"/>
            <a:ext cx="657225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Use consistent language summaries to orient further technical investigation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B8ABAEA-99A6-41D5-8BE5-889B396B58CD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228600" cy="571500"/>
          </a:xfrm>
          <a:prstGeom prst="roundRect">
            <a:avLst>
              <a:gd name="adj" fmla="val 33333"/>
            </a:avLst>
          </a:prstGeom>
          <a:solidFill>
            <a:srgbClr val="14565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873291-2F79-4BE4-BAD6-240110D17163}"/>
              </a:ext>
            </a:extLst>
          </p:cNvPr>
          <p:cNvSpPr>
            <a:spLocks noGrp="1"/>
          </p:cNvSpPr>
          <p:nvPr/>
        </p:nvSpPr>
        <p:spPr>
          <a:xfrm>
            <a:off x="1104900" y="5038725"/>
            <a:ext cx="2381250" cy="2952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6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Educators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77BBC2-30EB-446D-941B-D62959BCA2B8}"/>
              </a:ext>
            </a:extLst>
          </p:cNvPr>
          <p:cNvSpPr>
            <a:spLocks noGrp="1"/>
          </p:cNvSpPr>
          <p:nvPr/>
        </p:nvSpPr>
        <p:spPr>
          <a:xfrm>
            <a:off x="3714750" y="5057775"/>
            <a:ext cx="657225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Use profiles and the timeline as visual entry points for course discussions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BC2CA1-EE4C-4026-8CBE-768FE2C8A271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96202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0">
                <a:solidFill>
                  <a:srgbClr val="55D6C2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55D6C2"/>
                </a:solidFill>
                <a:latin typeface="Aptos Display"/>
                <a:ea typeface="Aptos Display"/>
                <a:cs typeface="Aptos Display"/>
              </a:rPr>
              <a:t>The content model helps visitors move from “What is this language?” to “Where does it fit?” without needing to consult multiple sources first.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CD533A-E7D7-4F12-9682-07CD18A0480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750" b="1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LANGSPHERE  /  WEBSITE OVERVIEW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319B8B-B1C0-40ED-B7A3-887EE0C494A8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143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20387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77F832-4C30-40A2-98EE-935EF19A0DB1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5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Why the directory matters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FDD856-4319-4F4F-B9CC-B7AD57D3A520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334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Programming languages carry different histories, trade-offs, and communities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F4FC89-72B1-4219-9135-55E3FE50197B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5375" cy="38100"/>
          </a:xfrm>
          <a:prstGeom prst="roundRect">
            <a:avLst>
              <a:gd name="adj" fmla="val 50000"/>
            </a:avLst>
          </a:prstGeom>
          <a:solidFill>
            <a:srgbClr val="FF7846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4BB7FE-2A13-45AD-AB5E-78C232E71FB6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5238750" cy="1000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800" b="0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A language directory gives users a common frame for comparing options. LangSphere brings classification, history, and technical context into one interface.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E7177C-55E9-4CD5-B8F0-29D80B168727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800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+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6ACA34-D194-46EC-9929-84F654A3E81F}"/>
              </a:ext>
            </a:extLst>
          </p:cNvPr>
          <p:cNvSpPr>
            <a:spLocks noGrp="1"/>
          </p:cNvSpPr>
          <p:nvPr/>
        </p:nvSpPr>
        <p:spPr>
          <a:xfrm>
            <a:off x="1028700" y="3762375"/>
            <a:ext cx="2571750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Context before choice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7AF481-B133-440D-B89F-013DA05757DD}"/>
              </a:ext>
            </a:extLst>
          </p:cNvPr>
          <p:cNvSpPr>
            <a:spLocks noGrp="1"/>
          </p:cNvSpPr>
          <p:nvPr/>
        </p:nvSpPr>
        <p:spPr>
          <a:xfrm>
            <a:off x="3857625" y="3743325"/>
            <a:ext cx="61912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A release year, creator, and category provide useful orientation before deeper research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BC7D46-4743-4F45-BF00-20D0B4FB5A74}"/>
              </a:ext>
            </a:extLst>
          </p:cNvPr>
          <p:cNvSpPr>
            <a:spLocks noGrp="1"/>
          </p:cNvSpPr>
          <p:nvPr/>
        </p:nvSpPr>
        <p:spPr>
          <a:xfrm>
            <a:off x="609600" y="4486275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800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+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290412-51D5-4AEE-867A-B49A4CA38239}"/>
              </a:ext>
            </a:extLst>
          </p:cNvPr>
          <p:cNvSpPr>
            <a:spLocks noGrp="1"/>
          </p:cNvSpPr>
          <p:nvPr/>
        </p:nvSpPr>
        <p:spPr>
          <a:xfrm>
            <a:off x="1028700" y="4486275"/>
            <a:ext cx="2571750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Comparable profiles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C62E6F-FCB4-4724-94CA-CF53F9EF0C08}"/>
              </a:ext>
            </a:extLst>
          </p:cNvPr>
          <p:cNvSpPr>
            <a:spLocks noGrp="1"/>
          </p:cNvSpPr>
          <p:nvPr/>
        </p:nvSpPr>
        <p:spPr>
          <a:xfrm>
            <a:off x="3857625" y="4467225"/>
            <a:ext cx="61912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A repeatable section structure makes it easier to compare languages fairly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28A78B-8DA9-4F09-90FB-DD3C0BE3FF44}"/>
              </a:ext>
            </a:extLst>
          </p:cNvPr>
          <p:cNvSpPr>
            <a:spLocks noGrp="1"/>
          </p:cNvSpPr>
          <p:nvPr/>
        </p:nvSpPr>
        <p:spPr>
          <a:xfrm>
            <a:off x="609600" y="5210175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800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+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BB5C8A-0FB9-44D2-82CF-2CDDE582D958}"/>
              </a:ext>
            </a:extLst>
          </p:cNvPr>
          <p:cNvSpPr>
            <a:spLocks noGrp="1"/>
          </p:cNvSpPr>
          <p:nvPr/>
        </p:nvSpPr>
        <p:spPr>
          <a:xfrm>
            <a:off x="1028700" y="5210175"/>
            <a:ext cx="2571750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Broader technical literacy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B52E80-B0D8-4A86-80ED-D2409E21237C}"/>
              </a:ext>
            </a:extLst>
          </p:cNvPr>
          <p:cNvSpPr>
            <a:spLocks noGrp="1"/>
          </p:cNvSpPr>
          <p:nvPr/>
        </p:nvSpPr>
        <p:spPr>
          <a:xfrm>
            <a:off x="3857625" y="5191125"/>
            <a:ext cx="61912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Timeline and ecosystem context help visitors connect a language to its real-world role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C7AFE5-B154-4520-8C50-579786C0F81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750" b="1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LANGSPHERE  /  WEBSITE OVERVIEW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7328DB-F926-4B2C-B14E-018A0667081F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143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58640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1A8D7C-15F3-4C48-A318-BDD794F9DD1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5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Usability and understandability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351747-5F83-4530-BB35-FBB7ED434708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334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A visual assessment of the live experience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2221351-41DD-4F75-8269-CBE573DE0E2B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5375" cy="38100"/>
          </a:xfrm>
          <a:prstGeom prst="roundRect">
            <a:avLst>
              <a:gd name="adj" fmla="val 50000"/>
            </a:avLst>
          </a:prstGeom>
          <a:solidFill>
            <a:srgbClr val="FF7846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E53C87B-304D-41E4-8EC3-AA99882FFC42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5048250" cy="1352550"/>
          </a:xfrm>
          <a:prstGeom prst="roundRect">
            <a:avLst>
              <a:gd name="adj" fmla="val 5634"/>
            </a:avLst>
          </a:prstGeom>
          <a:solidFill>
            <a:srgbClr val="0D383B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38374B-B453-4047-9227-812F9E6F912C}"/>
              </a:ext>
            </a:extLst>
          </p:cNvPr>
          <p:cNvSpPr>
            <a:spLocks noGrp="1"/>
          </p:cNvSpPr>
          <p:nvPr/>
        </p:nvSpPr>
        <p:spPr>
          <a:xfrm>
            <a:off x="876300" y="2505075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Clear hierarchy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D2E9F1-D17D-4258-B9E5-61575C05606D}"/>
              </a:ext>
            </a:extLst>
          </p:cNvPr>
          <p:cNvSpPr>
            <a:spLocks noGrp="1"/>
          </p:cNvSpPr>
          <p:nvPr/>
        </p:nvSpPr>
        <p:spPr>
          <a:xfrm>
            <a:off x="876300" y="285750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The site opens with a name, a concise purpose statement, view selector, search, then filters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0CE448-A780-4983-9972-7976D47A38F7}"/>
              </a:ext>
            </a:extLst>
          </p:cNvPr>
          <p:cNvSpPr>
            <a:spLocks noGrp="1"/>
          </p:cNvSpPr>
          <p:nvPr/>
        </p:nvSpPr>
        <p:spPr>
          <a:xfrm>
            <a:off x="6381750" y="2286000"/>
            <a:ext cx="5048250" cy="1352550"/>
          </a:xfrm>
          <a:prstGeom prst="roundRect">
            <a:avLst>
              <a:gd name="adj" fmla="val 5634"/>
            </a:avLst>
          </a:prstGeom>
          <a:solidFill>
            <a:srgbClr val="0D383B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D70556-4DBE-4F7B-A1CB-D86B18CDA6DF}"/>
              </a:ext>
            </a:extLst>
          </p:cNvPr>
          <p:cNvSpPr>
            <a:spLocks noGrp="1"/>
          </p:cNvSpPr>
          <p:nvPr/>
        </p:nvSpPr>
        <p:spPr>
          <a:xfrm>
            <a:off x="6648450" y="2505075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Fast scanning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31FC4C-C736-45D6-8192-BEBE05EB4F8A}"/>
              </a:ext>
            </a:extLst>
          </p:cNvPr>
          <p:cNvSpPr>
            <a:spLocks noGrp="1"/>
          </p:cNvSpPr>
          <p:nvPr/>
        </p:nvSpPr>
        <p:spPr>
          <a:xfrm>
            <a:off x="6648450" y="285750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Language cards surface release year, a plain-language summary, and category labels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C2A0DCB-B2A5-412F-9723-604D63598914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5048250" cy="1352550"/>
          </a:xfrm>
          <a:prstGeom prst="roundRect">
            <a:avLst>
              <a:gd name="adj" fmla="val 5634"/>
            </a:avLst>
          </a:prstGeom>
          <a:solidFill>
            <a:srgbClr val="0D383B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A4F43A-7733-4594-B6E3-211832A56D73}"/>
              </a:ext>
            </a:extLst>
          </p:cNvPr>
          <p:cNvSpPr>
            <a:spLocks noGrp="1"/>
          </p:cNvSpPr>
          <p:nvPr/>
        </p:nvSpPr>
        <p:spPr>
          <a:xfrm>
            <a:off x="876300" y="4391025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Progressive detail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631779-5BD5-4F3B-915E-795FC512E443}"/>
              </a:ext>
            </a:extLst>
          </p:cNvPr>
          <p:cNvSpPr>
            <a:spLocks noGrp="1"/>
          </p:cNvSpPr>
          <p:nvPr/>
        </p:nvSpPr>
        <p:spPr>
          <a:xfrm>
            <a:off x="876300" y="474345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The directory remains broad while individual profiles provide deeper technical information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2BE019D-E7F4-4FF6-A96D-D81352F66BFA}"/>
              </a:ext>
            </a:extLst>
          </p:cNvPr>
          <p:cNvSpPr>
            <a:spLocks noGrp="1"/>
          </p:cNvSpPr>
          <p:nvPr/>
        </p:nvSpPr>
        <p:spPr>
          <a:xfrm>
            <a:off x="6381750" y="4171950"/>
            <a:ext cx="5048250" cy="1352550"/>
          </a:xfrm>
          <a:prstGeom prst="roundRect">
            <a:avLst>
              <a:gd name="adj" fmla="val 5634"/>
            </a:avLst>
          </a:prstGeom>
          <a:solidFill>
            <a:srgbClr val="0D383B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EE4B12-05D7-4202-8858-42351A711864}"/>
              </a:ext>
            </a:extLst>
          </p:cNvPr>
          <p:cNvSpPr>
            <a:spLocks noGrp="1"/>
          </p:cNvSpPr>
          <p:nvPr/>
        </p:nvSpPr>
        <p:spPr>
          <a:xfrm>
            <a:off x="6648450" y="4391025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Distinct visual identity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B1B3C1-5B39-44EC-AFAB-BE3BC0AE750E}"/>
              </a:ext>
            </a:extLst>
          </p:cNvPr>
          <p:cNvSpPr>
            <a:spLocks noGrp="1"/>
          </p:cNvSpPr>
          <p:nvPr/>
        </p:nvSpPr>
        <p:spPr>
          <a:xfrm>
            <a:off x="6648450" y="474345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Dark teal panels, warm orange highlights, and monospaced labels reinforce a technical reference tone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01DDD7-E731-4948-880C-CC2024BDB0D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750" b="1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LANGSPHERE  /  WEBSITE OVERVIEW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4668FC-0202-4F2A-98DA-94BB02F8833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143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19226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2A49A3-42A7-47BD-BB76-81797151674F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5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Screens from the live site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BF1FC5-2E84-4A49-8818-8D2D33F71FD5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334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Directory cards and the history view make the information architecture visible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1BE0E8A-8E3C-4D33-B1F4-58BDFF0DA923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5375" cy="38100"/>
          </a:xfrm>
          <a:prstGeom prst="roundRect">
            <a:avLst>
              <a:gd name="adj" fmla="val 50000"/>
            </a:avLst>
          </a:prstGeom>
          <a:solidFill>
            <a:srgbClr val="FF7846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3780AD-CB41-4E06-BF5F-EDBA3A0D4D3A}"/>
              </a:ext>
            </a:extLst>
          </p:cNvPr>
          <p:cNvSpPr>
            <a:spLocks noGrp="1"/>
          </p:cNvSpPr>
          <p:nvPr/>
        </p:nvSpPr>
        <p:spPr>
          <a:xfrm>
            <a:off x="542925" y="2009775"/>
            <a:ext cx="5276850" cy="3028950"/>
          </a:xfrm>
          <a:prstGeom prst="roundRect">
            <a:avLst>
              <a:gd name="adj" fmla="val 2516"/>
            </a:avLst>
          </a:prstGeom>
          <a:solidFill>
            <a:srgbClr val="14565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609600" y="2076450"/>
            <a:ext cx="5143500" cy="2895600"/>
          </a:xfrm>
          <a:prstGeom prst="roundRect">
            <a:avLst>
              <a:gd name="adj" fmla="val 3947"/>
            </a:avLst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CC1A5C-6F22-47D8-92D0-7270DC8385F1}"/>
              </a:ext>
            </a:extLst>
          </p:cNvPr>
          <p:cNvSpPr>
            <a:spLocks noGrp="1"/>
          </p:cNvSpPr>
          <p:nvPr/>
        </p:nvSpPr>
        <p:spPr>
          <a:xfrm>
            <a:off x="6124575" y="2009775"/>
            <a:ext cx="5276850" cy="3028950"/>
          </a:xfrm>
          <a:prstGeom prst="roundRect">
            <a:avLst>
              <a:gd name="adj" fmla="val 2516"/>
            </a:avLst>
          </a:prstGeom>
          <a:solidFill>
            <a:srgbClr val="14565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rcRect l="6" r="6"/>
          <a:stretch>
            <a:fillRect/>
          </a:stretch>
        </p:blipFill>
        <p:spPr>
          <a:xfrm>
            <a:off x="6191250" y="2076450"/>
            <a:ext cx="5143500" cy="2895600"/>
          </a:xfrm>
          <a:prstGeom prst="roundRect">
            <a:avLst>
              <a:gd name="adj" fmla="val 3947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D4E8425-B50A-4998-9CE9-9547C3D63BAD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5143500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dirty="0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Directory 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AFB959-F3B7-4A5D-958A-A792A4A4442E}"/>
              </a:ext>
            </a:extLst>
          </p:cNvPr>
          <p:cNvSpPr>
            <a:spLocks noGrp="1"/>
          </p:cNvSpPr>
          <p:nvPr/>
        </p:nvSpPr>
        <p:spPr>
          <a:xfrm>
            <a:off x="609600" y="5476875"/>
            <a:ext cx="5143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0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Search, category filters, and language cards</a:t>
            </a:r>
            <a:r>
              <a:rPr lang="en-IN" sz="1125" b="0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1125" b="0" dirty="0">
              <a:solidFill>
                <a:srgbClr val="B4CCC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9ED05E-B491-414B-B6E6-7113E4E64A91}"/>
              </a:ext>
            </a:extLst>
          </p:cNvPr>
          <p:cNvSpPr>
            <a:spLocks noGrp="1"/>
          </p:cNvSpPr>
          <p:nvPr/>
        </p:nvSpPr>
        <p:spPr>
          <a:xfrm>
            <a:off x="6191250" y="5200650"/>
            <a:ext cx="5143500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History timeline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0C2C66-184E-4801-97CD-E8E4FCEAD052}"/>
              </a:ext>
            </a:extLst>
          </p:cNvPr>
          <p:cNvSpPr>
            <a:spLocks noGrp="1"/>
          </p:cNvSpPr>
          <p:nvPr/>
        </p:nvSpPr>
        <p:spPr>
          <a:xfrm>
            <a:off x="6191250" y="5476875"/>
            <a:ext cx="5143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0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Release dates and creator context arranged chronologically</a:t>
            </a:r>
            <a:r>
              <a:rPr lang="en-IN" sz="1125" b="0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1125" b="0" dirty="0">
              <a:solidFill>
                <a:srgbClr val="B4CCC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774396-6631-455D-BDEE-EBC7A1F73E5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750" b="1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LANGSPHERE  /  WEBSITE OVERVIEW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8689E5-ECE9-48E6-97A0-120ECF97717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143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8" name="Rectangle: Rounded Corners 7">
            <a:hlinkClick r:id="rId5" action="ppaction://hlinksldjump"/>
            <a:extLst>
              <a:ext uri="{FF2B5EF4-FFF2-40B4-BE49-F238E27FC236}">
                <a16:creationId xmlns:a16="http://schemas.microsoft.com/office/drawing/2014/main" id="{87B00043-146F-F75E-0F54-B96BB28402D6}"/>
              </a:ext>
            </a:extLst>
          </p:cNvPr>
          <p:cNvSpPr/>
          <p:nvPr/>
        </p:nvSpPr>
        <p:spPr>
          <a:xfrm>
            <a:off x="5246277" y="6035470"/>
            <a:ext cx="2039425" cy="333375"/>
          </a:xfrm>
          <a:prstGeom prst="roundRect">
            <a:avLst/>
          </a:prstGeom>
          <a:solidFill>
            <a:srgbClr val="040F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Back to structure</a:t>
            </a:r>
          </a:p>
        </p:txBody>
      </p:sp>
    </p:spTree>
    <p:extLst>
      <p:ext uri="{BB962C8B-B14F-4D97-AF65-F5344CB8AC3E}">
        <p14:creationId xmlns:p14="http://schemas.microsoft.com/office/powerpoint/2010/main" val="2111190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88A003-E19D-492A-6804-46705BFB135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143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975" b="1" dirty="0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10</a:t>
            </a:r>
            <a:endParaRPr sz="975" b="1" dirty="0">
              <a:solidFill>
                <a:srgbClr val="FF784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ABF229-8417-58B9-B754-F3D56DAF2584}"/>
              </a:ext>
            </a:extLst>
          </p:cNvPr>
          <p:cNvSpPr>
            <a:spLocks noGrp="1"/>
          </p:cNvSpPr>
          <p:nvPr/>
        </p:nvSpPr>
        <p:spPr>
          <a:xfrm>
            <a:off x="609600" y="5609377"/>
            <a:ext cx="5143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100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Identity, creator, release year, and a concise description.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B25BD65-C61B-F40C-19EB-F40063C30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137" y="1806468"/>
            <a:ext cx="5279594" cy="34994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AA9F019-EB50-CDD1-1E99-C9EC86220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027" y="1905386"/>
            <a:ext cx="4123813" cy="3297568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396E8C76-FDB7-2F52-E049-D23B1B7C715B}"/>
              </a:ext>
            </a:extLst>
          </p:cNvPr>
          <p:cNvSpPr>
            <a:spLocks noGrp="1"/>
          </p:cNvSpPr>
          <p:nvPr/>
        </p:nvSpPr>
        <p:spPr>
          <a:xfrm>
            <a:off x="6442137" y="5361727"/>
            <a:ext cx="5143500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275" b="1" dirty="0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Language Over</a:t>
            </a:r>
            <a:r>
              <a:rPr sz="1275" b="1" dirty="0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view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C538DCC-F0A5-2EA3-05F9-59E8C773B702}"/>
              </a:ext>
            </a:extLst>
          </p:cNvPr>
          <p:cNvSpPr>
            <a:spLocks noGrp="1"/>
          </p:cNvSpPr>
          <p:nvPr/>
        </p:nvSpPr>
        <p:spPr>
          <a:xfrm>
            <a:off x="629060" y="5347029"/>
            <a:ext cx="5143500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275" b="1" dirty="0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Language Profile</a:t>
            </a:r>
            <a:r>
              <a:rPr sz="1275" b="1" dirty="0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 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AAAE6C2-9D7F-9522-B717-B0BE532E8FAE}"/>
              </a:ext>
            </a:extLst>
          </p:cNvPr>
          <p:cNvSpPr>
            <a:spLocks/>
          </p:cNvSpPr>
          <p:nvPr/>
        </p:nvSpPr>
        <p:spPr>
          <a:xfrm>
            <a:off x="629060" y="1806468"/>
            <a:ext cx="5276850" cy="3495407"/>
          </a:xfrm>
          <a:prstGeom prst="roundRect">
            <a:avLst>
              <a:gd name="adj" fmla="val 2516"/>
            </a:avLst>
          </a:prstGeom>
          <a:solidFill>
            <a:srgbClr val="14565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DDDBB1F-0FC6-CBBF-E2FA-6F043D651F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88" y="1851622"/>
            <a:ext cx="4271194" cy="3405097"/>
          </a:xfrm>
          <a:prstGeom prst="rect">
            <a:avLst/>
          </a:prstGeom>
          <a:ln w="38100">
            <a:noFill/>
          </a:ln>
          <a:effectLst>
            <a:softEdge rad="63500"/>
          </a:effectLst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1ED1362B-5A9C-B521-9D8D-A93A0EF67C60}"/>
              </a:ext>
            </a:extLst>
          </p:cNvPr>
          <p:cNvSpPr>
            <a:spLocks noGrp="1"/>
          </p:cNvSpPr>
          <p:nvPr/>
        </p:nvSpPr>
        <p:spPr>
          <a:xfrm>
            <a:off x="6419850" y="5594679"/>
            <a:ext cx="5143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100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Primary philosophy and notable features.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073644-C3FB-A9BE-3578-71711F62FE03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5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Screens from the live site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2916C47-ACAB-753B-EA3D-40E5D4F67B1B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334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275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Detailed information about the language can be analysed.</a:t>
            </a:r>
            <a:endParaRPr sz="1275" b="0" dirty="0">
              <a:solidFill>
                <a:srgbClr val="B4CCC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0D0475E-798F-60FC-D540-3766021583C3}"/>
              </a:ext>
            </a:extLst>
          </p:cNvPr>
          <p:cNvSpPr>
            <a:spLocks noGrp="1"/>
          </p:cNvSpPr>
          <p:nvPr/>
        </p:nvSpPr>
        <p:spPr>
          <a:xfrm>
            <a:off x="609600" y="1597437"/>
            <a:ext cx="1095375" cy="38100"/>
          </a:xfrm>
          <a:prstGeom prst="roundRect">
            <a:avLst>
              <a:gd name="adj" fmla="val 50000"/>
            </a:avLst>
          </a:prstGeom>
          <a:solidFill>
            <a:srgbClr val="FF7846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31F1FE8-5EE9-6A8F-61F5-0E8B186279E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750" b="1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LANGSPHERE  /  WEBSITE OVERVIEW</a:t>
            </a:r>
          </a:p>
        </p:txBody>
      </p:sp>
      <p:sp>
        <p:nvSpPr>
          <p:cNvPr id="45" name="Rectangle: Rounded Corners 44">
            <a:hlinkClick r:id="rId5" action="ppaction://hlinksldjump"/>
            <a:extLst>
              <a:ext uri="{FF2B5EF4-FFF2-40B4-BE49-F238E27FC236}">
                <a16:creationId xmlns:a16="http://schemas.microsoft.com/office/drawing/2014/main" id="{45544366-C552-0CCE-3971-3642B65FAEED}"/>
              </a:ext>
            </a:extLst>
          </p:cNvPr>
          <p:cNvSpPr/>
          <p:nvPr/>
        </p:nvSpPr>
        <p:spPr>
          <a:xfrm>
            <a:off x="5246277" y="6035470"/>
            <a:ext cx="2039425" cy="333375"/>
          </a:xfrm>
          <a:prstGeom prst="roundRect">
            <a:avLst/>
          </a:prstGeom>
          <a:solidFill>
            <a:srgbClr val="040F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Back to structure</a:t>
            </a:r>
          </a:p>
        </p:txBody>
      </p:sp>
    </p:spTree>
    <p:extLst>
      <p:ext uri="{BB962C8B-B14F-4D97-AF65-F5344CB8AC3E}">
        <p14:creationId xmlns:p14="http://schemas.microsoft.com/office/powerpoint/2010/main" val="759814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6BE3DE-3AF2-E97F-69EB-A349998C5C53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143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975" b="1" dirty="0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11</a:t>
            </a:r>
            <a:endParaRPr sz="975" b="1" dirty="0">
              <a:solidFill>
                <a:srgbClr val="FF784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44D6DC-B0B4-69D8-1C91-4B90BE09FB65}"/>
              </a:ext>
            </a:extLst>
          </p:cNvPr>
          <p:cNvSpPr>
            <a:spLocks noGrp="1"/>
          </p:cNvSpPr>
          <p:nvPr/>
        </p:nvSpPr>
        <p:spPr>
          <a:xfrm>
            <a:off x="609600" y="5609377"/>
            <a:ext cx="5143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100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Accessible starting points for new learners</a:t>
            </a:r>
            <a:r>
              <a:rPr lang="en-IN" sz="1125" b="0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1125" b="0" dirty="0">
              <a:solidFill>
                <a:srgbClr val="B4CCCA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E330DB-1F74-B1C1-F30F-48A17D99B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137" y="1806468"/>
            <a:ext cx="5279594" cy="349940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36FE415-5F02-AADA-ED52-DF61D3F7FF33}"/>
              </a:ext>
            </a:extLst>
          </p:cNvPr>
          <p:cNvSpPr>
            <a:spLocks noGrp="1"/>
          </p:cNvSpPr>
          <p:nvPr/>
        </p:nvSpPr>
        <p:spPr>
          <a:xfrm>
            <a:off x="6442137" y="5361727"/>
            <a:ext cx="5143500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275" b="1" dirty="0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Syntax Highlight</a:t>
            </a:r>
            <a:endParaRPr sz="1275" b="1" dirty="0">
              <a:solidFill>
                <a:srgbClr val="FF784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068E2E-2460-6CD1-2F9B-6F8BB3531BDB}"/>
              </a:ext>
            </a:extLst>
          </p:cNvPr>
          <p:cNvSpPr>
            <a:spLocks noGrp="1"/>
          </p:cNvSpPr>
          <p:nvPr/>
        </p:nvSpPr>
        <p:spPr>
          <a:xfrm>
            <a:off x="629060" y="5347029"/>
            <a:ext cx="5143500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275" b="1" dirty="0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Beginner Guide</a:t>
            </a:r>
            <a:endParaRPr sz="1275" b="1" dirty="0">
              <a:solidFill>
                <a:srgbClr val="FF784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46E749B-AD34-6371-8E7E-497F9D8DF13E}"/>
              </a:ext>
            </a:extLst>
          </p:cNvPr>
          <p:cNvSpPr>
            <a:spLocks/>
          </p:cNvSpPr>
          <p:nvPr/>
        </p:nvSpPr>
        <p:spPr>
          <a:xfrm>
            <a:off x="629060" y="1806468"/>
            <a:ext cx="5276850" cy="3495407"/>
          </a:xfrm>
          <a:prstGeom prst="roundRect">
            <a:avLst>
              <a:gd name="adj" fmla="val 2516"/>
            </a:avLst>
          </a:prstGeom>
          <a:solidFill>
            <a:srgbClr val="14565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96702B-8739-F7C1-648F-458A42A0B7B2}"/>
              </a:ext>
            </a:extLst>
          </p:cNvPr>
          <p:cNvSpPr>
            <a:spLocks noGrp="1"/>
          </p:cNvSpPr>
          <p:nvPr/>
        </p:nvSpPr>
        <p:spPr>
          <a:xfrm>
            <a:off x="6419850" y="5594679"/>
            <a:ext cx="5143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100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Recognizable code patterns and conventions.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421FF4-BB44-A9EA-2DF8-59381AE011FA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5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Screens from the live site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F9EF54-DEC4-C12B-832D-7039F2770A96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334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275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Detailed information about the language can be analysed.</a:t>
            </a:r>
            <a:endParaRPr sz="1275" b="0" dirty="0">
              <a:solidFill>
                <a:srgbClr val="B4CCC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31BDAA2-822A-BA4E-769F-9D5E1B062333}"/>
              </a:ext>
            </a:extLst>
          </p:cNvPr>
          <p:cNvSpPr>
            <a:spLocks noGrp="1"/>
          </p:cNvSpPr>
          <p:nvPr/>
        </p:nvSpPr>
        <p:spPr>
          <a:xfrm>
            <a:off x="609600" y="1597437"/>
            <a:ext cx="1095375" cy="38100"/>
          </a:xfrm>
          <a:prstGeom prst="roundRect">
            <a:avLst>
              <a:gd name="adj" fmla="val 50000"/>
            </a:avLst>
          </a:prstGeom>
          <a:solidFill>
            <a:srgbClr val="FF7846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E877F1-3D5E-C879-6320-238FA59BA749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750" b="1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LANGSPHERE  /  WEBSITE OVERVIEW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778E13A-885A-D72D-725E-B91A7A4073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115" y="1870380"/>
            <a:ext cx="4188739" cy="3349485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9082F8B-E0C0-9C19-9A77-58A8AABA06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7564" y="1883367"/>
            <a:ext cx="4188739" cy="3349486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37" name="Rectangle: Rounded Corners 36">
            <a:hlinkClick r:id="rId5" action="ppaction://hlinksldjump"/>
            <a:extLst>
              <a:ext uri="{FF2B5EF4-FFF2-40B4-BE49-F238E27FC236}">
                <a16:creationId xmlns:a16="http://schemas.microsoft.com/office/drawing/2014/main" id="{25F12160-60A1-2C35-5761-CE5A557EA408}"/>
              </a:ext>
            </a:extLst>
          </p:cNvPr>
          <p:cNvSpPr/>
          <p:nvPr/>
        </p:nvSpPr>
        <p:spPr>
          <a:xfrm>
            <a:off x="5246277" y="6035470"/>
            <a:ext cx="2039425" cy="333375"/>
          </a:xfrm>
          <a:prstGeom prst="roundRect">
            <a:avLst/>
          </a:prstGeom>
          <a:solidFill>
            <a:srgbClr val="040F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Back to structure</a:t>
            </a:r>
          </a:p>
        </p:txBody>
      </p:sp>
    </p:spTree>
    <p:extLst>
      <p:ext uri="{BB962C8B-B14F-4D97-AF65-F5344CB8AC3E}">
        <p14:creationId xmlns:p14="http://schemas.microsoft.com/office/powerpoint/2010/main" val="1719795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F84CB-9AFE-1F63-EB0B-F335E324D88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143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975" b="1" dirty="0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12</a:t>
            </a:r>
            <a:endParaRPr sz="975" b="1" dirty="0">
              <a:solidFill>
                <a:srgbClr val="FF784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1BD62-21AE-0543-DD92-DD5C34EF632F}"/>
              </a:ext>
            </a:extLst>
          </p:cNvPr>
          <p:cNvSpPr>
            <a:spLocks noGrp="1"/>
          </p:cNvSpPr>
          <p:nvPr/>
        </p:nvSpPr>
        <p:spPr>
          <a:xfrm>
            <a:off x="609600" y="5609377"/>
            <a:ext cx="5143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100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Tools, platforms, libraries, and community context.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1D3EA1-ED84-CCBB-FE53-7B5BDE615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137" y="1806468"/>
            <a:ext cx="5279594" cy="34994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9BC58-DA21-C82C-9E3B-BEEA997F594F}"/>
              </a:ext>
            </a:extLst>
          </p:cNvPr>
          <p:cNvSpPr>
            <a:spLocks noGrp="1"/>
          </p:cNvSpPr>
          <p:nvPr/>
        </p:nvSpPr>
        <p:spPr>
          <a:xfrm>
            <a:off x="6442137" y="5361727"/>
            <a:ext cx="5143500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275" b="1" dirty="0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Pros &amp; Cons</a:t>
            </a:r>
            <a:endParaRPr sz="1275" b="1" dirty="0">
              <a:solidFill>
                <a:srgbClr val="FF784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999D5C-2B17-D07D-270B-5181EF18CEDC}"/>
              </a:ext>
            </a:extLst>
          </p:cNvPr>
          <p:cNvSpPr>
            <a:spLocks noGrp="1"/>
          </p:cNvSpPr>
          <p:nvPr/>
        </p:nvSpPr>
        <p:spPr>
          <a:xfrm>
            <a:off x="629060" y="5347029"/>
            <a:ext cx="5143500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275" b="1" dirty="0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Ecosystem</a:t>
            </a:r>
            <a:endParaRPr sz="1275" b="1" dirty="0">
              <a:solidFill>
                <a:srgbClr val="FF784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529E276-2348-F2E5-F71D-DB8AE321FE0B}"/>
              </a:ext>
            </a:extLst>
          </p:cNvPr>
          <p:cNvSpPr>
            <a:spLocks/>
          </p:cNvSpPr>
          <p:nvPr/>
        </p:nvSpPr>
        <p:spPr>
          <a:xfrm>
            <a:off x="629060" y="1806468"/>
            <a:ext cx="5276850" cy="3495407"/>
          </a:xfrm>
          <a:prstGeom prst="roundRect">
            <a:avLst>
              <a:gd name="adj" fmla="val 2516"/>
            </a:avLst>
          </a:prstGeom>
          <a:solidFill>
            <a:srgbClr val="14565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8E591C-A402-272B-A037-8EB62DC0A182}"/>
              </a:ext>
            </a:extLst>
          </p:cNvPr>
          <p:cNvSpPr>
            <a:spLocks noGrp="1"/>
          </p:cNvSpPr>
          <p:nvPr/>
        </p:nvSpPr>
        <p:spPr>
          <a:xfrm>
            <a:off x="6419850" y="5594679"/>
            <a:ext cx="5143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100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Useful strengths and limits for evaluation.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7E2579-C81C-6BA8-C425-BB2C7151651A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5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Screens from the live site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EE6DEF-4CD0-FADD-B21F-DA9E09BE8630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334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275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Detailed information about the language can be analysed.</a:t>
            </a:r>
            <a:endParaRPr sz="1275" b="0" dirty="0">
              <a:solidFill>
                <a:srgbClr val="B4CCC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0BDD508-6730-7724-FE1C-96B02EAEED18}"/>
              </a:ext>
            </a:extLst>
          </p:cNvPr>
          <p:cNvSpPr>
            <a:spLocks noGrp="1"/>
          </p:cNvSpPr>
          <p:nvPr/>
        </p:nvSpPr>
        <p:spPr>
          <a:xfrm>
            <a:off x="609600" y="1597437"/>
            <a:ext cx="1095375" cy="38100"/>
          </a:xfrm>
          <a:prstGeom prst="roundRect">
            <a:avLst>
              <a:gd name="adj" fmla="val 50000"/>
            </a:avLst>
          </a:prstGeom>
          <a:solidFill>
            <a:srgbClr val="FF7846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DBA970-0089-FBFE-E8DA-CABB20C98D0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750" b="1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LANGSPHERE  /  WEBSITE OVERVIEW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E4AA979-E22C-08C2-695D-03CEC76861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387" y="1910473"/>
            <a:ext cx="4111093" cy="3287396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56F2EAB-3229-3CB7-6822-EBD536284F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274" y="1878755"/>
            <a:ext cx="4190422" cy="3350831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35" name="Rectangle: Rounded Corners 34">
            <a:hlinkClick r:id="rId5" action="ppaction://hlinksldjump"/>
            <a:extLst>
              <a:ext uri="{FF2B5EF4-FFF2-40B4-BE49-F238E27FC236}">
                <a16:creationId xmlns:a16="http://schemas.microsoft.com/office/drawing/2014/main" id="{1E3597D3-A75C-B12F-ACF6-3D782E8C96DE}"/>
              </a:ext>
            </a:extLst>
          </p:cNvPr>
          <p:cNvSpPr/>
          <p:nvPr/>
        </p:nvSpPr>
        <p:spPr>
          <a:xfrm>
            <a:off x="5246277" y="6035470"/>
            <a:ext cx="2039425" cy="333375"/>
          </a:xfrm>
          <a:prstGeom prst="roundRect">
            <a:avLst/>
          </a:prstGeom>
          <a:solidFill>
            <a:srgbClr val="040F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Back to structure</a:t>
            </a:r>
          </a:p>
        </p:txBody>
      </p:sp>
    </p:spTree>
    <p:extLst>
      <p:ext uri="{BB962C8B-B14F-4D97-AF65-F5344CB8AC3E}">
        <p14:creationId xmlns:p14="http://schemas.microsoft.com/office/powerpoint/2010/main" val="1166940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6593CE3-D3C1-FFEA-9B8B-FD1E53F44958}"/>
              </a:ext>
            </a:extLst>
          </p:cNvPr>
          <p:cNvSpPr>
            <a:spLocks/>
          </p:cNvSpPr>
          <p:nvPr/>
        </p:nvSpPr>
        <p:spPr>
          <a:xfrm>
            <a:off x="5502839" y="3468559"/>
            <a:ext cx="3595225" cy="2575017"/>
          </a:xfrm>
          <a:prstGeom prst="roundRect">
            <a:avLst>
              <a:gd name="adj" fmla="val 2516"/>
            </a:avLst>
          </a:prstGeom>
          <a:solidFill>
            <a:srgbClr val="14565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10608-694A-65FD-BAF1-13CFF877BD9E}"/>
              </a:ext>
            </a:extLst>
          </p:cNvPr>
          <p:cNvSpPr/>
          <p:nvPr/>
        </p:nvSpPr>
        <p:spPr>
          <a:xfrm>
            <a:off x="5704313" y="3574411"/>
            <a:ext cx="3192273" cy="389773"/>
          </a:xfrm>
          <a:prstGeom prst="roundRect">
            <a:avLst/>
          </a:prstGeom>
          <a:solidFill>
            <a:srgbClr val="0618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0C6C72-5128-EAC7-5483-9B3E8597029D}"/>
              </a:ext>
            </a:extLst>
          </p:cNvPr>
          <p:cNvSpPr>
            <a:spLocks/>
          </p:cNvSpPr>
          <p:nvPr/>
        </p:nvSpPr>
        <p:spPr>
          <a:xfrm>
            <a:off x="3093935" y="3468559"/>
            <a:ext cx="2094974" cy="2585979"/>
          </a:xfrm>
          <a:prstGeom prst="roundRect">
            <a:avLst>
              <a:gd name="adj" fmla="val 2516"/>
            </a:avLst>
          </a:prstGeom>
          <a:solidFill>
            <a:srgbClr val="14565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730C9A-8B54-6FF3-8FDE-E456675EBB06}"/>
              </a:ext>
            </a:extLst>
          </p:cNvPr>
          <p:cNvSpPr/>
          <p:nvPr/>
        </p:nvSpPr>
        <p:spPr>
          <a:xfrm>
            <a:off x="3374741" y="3582639"/>
            <a:ext cx="1674760" cy="338554"/>
          </a:xfrm>
          <a:prstGeom prst="roundRect">
            <a:avLst/>
          </a:prstGeom>
          <a:solidFill>
            <a:srgbClr val="0618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630801-0027-641F-A0B7-70CB86A7C195}"/>
              </a:ext>
            </a:extLst>
          </p:cNvPr>
          <p:cNvSpPr>
            <a:spLocks/>
          </p:cNvSpPr>
          <p:nvPr/>
        </p:nvSpPr>
        <p:spPr>
          <a:xfrm>
            <a:off x="3093935" y="1949125"/>
            <a:ext cx="6004129" cy="1186059"/>
          </a:xfrm>
          <a:prstGeom prst="roundRect">
            <a:avLst>
              <a:gd name="adj" fmla="val 2516"/>
            </a:avLst>
          </a:prstGeom>
          <a:solidFill>
            <a:srgbClr val="14565A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002AB1-9910-5DFE-94AD-9C331BA493E2}"/>
              </a:ext>
            </a:extLst>
          </p:cNvPr>
          <p:cNvSpPr txBox="1"/>
          <p:nvPr/>
        </p:nvSpPr>
        <p:spPr>
          <a:xfrm>
            <a:off x="3302033" y="2388352"/>
            <a:ext cx="559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Thankyou for your valuable time and patience 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BA2B0E-0920-A08C-77D0-F6E357BAA3C4}"/>
              </a:ext>
            </a:extLst>
          </p:cNvPr>
          <p:cNvSpPr txBox="1"/>
          <p:nvPr/>
        </p:nvSpPr>
        <p:spPr>
          <a:xfrm>
            <a:off x="3342548" y="3919918"/>
            <a:ext cx="187013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>
                    <a:lumMod val="85000"/>
                  </a:schemeClr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#Homepage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>
                    <a:lumMod val="85000"/>
                  </a:schemeClr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#Description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285750" indent="-2857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>
                    <a:lumMod val="85000"/>
                  </a:schemeClr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#Navigation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>
                    <a:lumMod val="85000"/>
                  </a:schemeClr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#Workflow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>
                    <a:lumMod val="85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#Structure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>
                    <a:lumMod val="85000"/>
                  </a:schemeClr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#Users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>
                    <a:lumMod val="85000"/>
                  </a:schemeClr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#Accessibility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>
                    <a:lumMod val="85000"/>
                  </a:schemeClr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#Screenshots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9A3B1B-47C8-A414-3805-F00EB75D3310}"/>
              </a:ext>
            </a:extLst>
          </p:cNvPr>
          <p:cNvSpPr txBox="1"/>
          <p:nvPr/>
        </p:nvSpPr>
        <p:spPr>
          <a:xfrm>
            <a:off x="3436761" y="3574411"/>
            <a:ext cx="19769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Slide navigations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D0F256-4083-21E4-A627-8E31AA8E82F0}"/>
              </a:ext>
            </a:extLst>
          </p:cNvPr>
          <p:cNvSpPr txBox="1"/>
          <p:nvPr/>
        </p:nvSpPr>
        <p:spPr>
          <a:xfrm>
            <a:off x="5704314" y="3574414"/>
            <a:ext cx="31922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View live page on :</a:t>
            </a:r>
          </a:p>
          <a:p>
            <a:endParaRPr lang="en-I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https://langsphere.vercel.app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  <a:p>
            <a:endParaRPr lang="en-I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langsphere.vercel.app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11A8C0-1342-ACC6-7042-9C5D94CF11E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143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FF7846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975" b="1" dirty="0">
                <a:solidFill>
                  <a:srgbClr val="FF7846"/>
                </a:solidFill>
                <a:latin typeface="Aptos Display"/>
                <a:ea typeface="Aptos Display"/>
                <a:cs typeface="Aptos Display"/>
              </a:rPr>
              <a:t>13</a:t>
            </a:r>
            <a:endParaRPr sz="975" b="1" dirty="0">
              <a:solidFill>
                <a:srgbClr val="FF784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10CFC3-0B1C-B29C-A68E-EC039A7E8C2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750" b="1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LANGSPHERE  /  WEBSITE OVERVIEW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5B640B-10FE-F4D3-DFF9-B711381C6D3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550" b="1">
                <a:solidFill>
                  <a:srgbClr val="F0F6F4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2550" b="1" dirty="0">
                <a:solidFill>
                  <a:srgbClr val="F0F6F4"/>
                </a:solidFill>
                <a:latin typeface="Aptos Display"/>
                <a:ea typeface="Aptos Display"/>
                <a:cs typeface="Aptos Display"/>
              </a:rPr>
              <a:t>The End …</a:t>
            </a:r>
            <a:endParaRPr sz="2550" b="1" dirty="0">
              <a:solidFill>
                <a:srgbClr val="F0F6F4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DF47A9-4193-5ADA-5ED7-B965F427F0A3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334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0">
                <a:solidFill>
                  <a:srgbClr val="B4CCC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275" dirty="0">
                <a:solidFill>
                  <a:srgbClr val="B4CCCA"/>
                </a:solidFill>
                <a:latin typeface="Aptos Display"/>
                <a:ea typeface="Aptos Display"/>
                <a:cs typeface="Aptos Display"/>
              </a:rPr>
              <a:t>Looks like you have reached the end …! </a:t>
            </a:r>
            <a:endParaRPr sz="1275" b="0" dirty="0">
              <a:solidFill>
                <a:srgbClr val="B4CCC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622D32E-F80B-2761-3336-6EF586D652BD}"/>
              </a:ext>
            </a:extLst>
          </p:cNvPr>
          <p:cNvSpPr>
            <a:spLocks noGrp="1"/>
          </p:cNvSpPr>
          <p:nvPr/>
        </p:nvSpPr>
        <p:spPr>
          <a:xfrm>
            <a:off x="609600" y="1597437"/>
            <a:ext cx="1095375" cy="38100"/>
          </a:xfrm>
          <a:prstGeom prst="roundRect">
            <a:avLst>
              <a:gd name="adj" fmla="val 50000"/>
            </a:avLst>
          </a:prstGeom>
          <a:solidFill>
            <a:srgbClr val="FF7846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6900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884</Words>
  <Application>Microsoft Office PowerPoint</Application>
  <DocSecurity>0</DocSecurity>
  <PresentationFormat>Widescreen</PresentationFormat>
  <Paragraphs>167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 Display</vt:lpstr>
      <vt:lpstr>Arial</vt:lpstr>
      <vt:lpstr>Arial Rounded MT Bold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Abhimaneu R Nair</cp:lastModifiedBy>
  <cp:revision>5</cp:revision>
  <dcterms:created xsi:type="dcterms:W3CDTF">2026-09-04T09:27:25Z</dcterms:created>
  <dcterms:modified xsi:type="dcterms:W3CDTF">2026-09-08T21:07:06Z</dcterms:modified>
</cp:coreProperties>
</file>