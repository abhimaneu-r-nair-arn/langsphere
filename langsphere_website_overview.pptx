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a2d9ae3c3444118" /><Relationship Type="http://schemas.openxmlformats.org/officeDocument/2006/relationships/extended-properties" Target="/docProps/app.xml" Id="Rfb9c7ead05ec407e" /><Relationship Type="http://schemas.openxmlformats.org/officeDocument/2006/relationships/officeDocument" Target="/ppt/presentation.xml" Id="R1b9b4d997a54462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794394c316f40e6"/>
  </p:sldMasterIdLst>
  <p:notesMasterIdLst>
    <p:notesMasterId xmlns:r="http://schemas.openxmlformats.org/officeDocument/2006/relationships" r:id="R9ed9099e3a964d18"/>
  </p:notesMasterIdLst>
  <p:sldIdLst>
    <p:sldId xmlns:r="http://schemas.openxmlformats.org/officeDocument/2006/relationships" id="256" r:id="R3fea27bb4fea4880"/>
    <p:sldId xmlns:r="http://schemas.openxmlformats.org/officeDocument/2006/relationships" id="257" r:id="R9f195e54ccbb4a70"/>
    <p:sldId xmlns:r="http://schemas.openxmlformats.org/officeDocument/2006/relationships" id="258" r:id="R7763df2a089e4535"/>
    <p:sldId xmlns:r="http://schemas.openxmlformats.org/officeDocument/2006/relationships" id="259" r:id="R233759b7363447e0"/>
    <p:sldId xmlns:r="http://schemas.openxmlformats.org/officeDocument/2006/relationships" id="260" r:id="Rd193c3fc5b9d49be"/>
    <p:sldId xmlns:r="http://schemas.openxmlformats.org/officeDocument/2006/relationships" id="261" r:id="Rc22fcfdab26e4f7e"/>
    <p:sldId xmlns:r="http://schemas.openxmlformats.org/officeDocument/2006/relationships" id="262" r:id="R8fc1590e8da04a68"/>
    <p:sldId xmlns:r="http://schemas.openxmlformats.org/officeDocument/2006/relationships" id="263" r:id="Ra80d6c968c0b4d2f"/>
    <p:sldId xmlns:r="http://schemas.openxmlformats.org/officeDocument/2006/relationships" id="264" r:id="R7173ee26ef984d5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5265b64c38b4c6a" /><Relationship Type="http://schemas.openxmlformats.org/officeDocument/2006/relationships/slideMaster" Target="/ppt/slideMasters/slideMaster1.xml" Id="Ra794394c316f40e6" /><Relationship Type="http://schemas.openxmlformats.org/officeDocument/2006/relationships/notesMaster" Target="/ppt/notesMasters/notesMaster1.xml" Id="R9ed9099e3a964d18" /><Relationship Type="http://schemas.openxmlformats.org/officeDocument/2006/relationships/presProps" Target="/ppt/presProps.xml" Id="Ra33587b094a54b7e" /><Relationship Type="http://schemas.openxmlformats.org/officeDocument/2006/relationships/tableStyles" Target="/ppt/tableStyles.xml" Id="R0573e23d5c534013" /><Relationship Type="http://schemas.openxmlformats.org/officeDocument/2006/relationships/slide" Target="/ppt/slides/slide1.xml" Id="R3fea27bb4fea4880" /><Relationship Type="http://schemas.openxmlformats.org/officeDocument/2006/relationships/slide" Target="/ppt/slides/slide2.xml" Id="R9f195e54ccbb4a70" /><Relationship Type="http://schemas.openxmlformats.org/officeDocument/2006/relationships/slide" Target="/ppt/slides/slide3.xml" Id="R7763df2a089e4535" /><Relationship Type="http://schemas.openxmlformats.org/officeDocument/2006/relationships/slide" Target="/ppt/slides/slide4.xml" Id="R233759b7363447e0" /><Relationship Type="http://schemas.openxmlformats.org/officeDocument/2006/relationships/slide" Target="/ppt/slides/slide5.xml" Id="Rd193c3fc5b9d49be" /><Relationship Type="http://schemas.openxmlformats.org/officeDocument/2006/relationships/slide" Target="/ppt/slides/slide6.xml" Id="Rc22fcfdab26e4f7e" /><Relationship Type="http://schemas.openxmlformats.org/officeDocument/2006/relationships/slide" Target="/ppt/slides/slide7.xml" Id="R8fc1590e8da04a68" /><Relationship Type="http://schemas.openxmlformats.org/officeDocument/2006/relationships/slide" Target="/ppt/slides/slide8.xml" Id="Ra80d6c968c0b4d2f" /><Relationship Type="http://schemas.openxmlformats.org/officeDocument/2006/relationships/slide" Target="/ppt/slides/slide9.xml" Id="R7173ee26ef984d5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419f8f3fc90498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9d7abe22bb94778" /><Relationship Type="http://schemas.openxmlformats.org/officeDocument/2006/relationships/notesMaster" Target="/ppt/notesMasters/notesMaster1.xml" Id="R6129e8e2768f4c7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2e22203d7ba4bf4" /><Relationship Type="http://schemas.openxmlformats.org/officeDocument/2006/relationships/notesMaster" Target="/ppt/notesMasters/notesMaster1.xml" Id="R39bad3a64d0f43f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50107af5b4f4522" /><Relationship Type="http://schemas.openxmlformats.org/officeDocument/2006/relationships/notesMaster" Target="/ppt/notesMasters/notesMaster1.xml" Id="R40be7be1652e468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2110aa445db4855" /><Relationship Type="http://schemas.openxmlformats.org/officeDocument/2006/relationships/notesMaster" Target="/ppt/notesMasters/notesMaster1.xml" Id="R2cd2039216b6471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8cb42b1b372494a" /><Relationship Type="http://schemas.openxmlformats.org/officeDocument/2006/relationships/notesMaster" Target="/ppt/notesMasters/notesMaster1.xml" Id="R44dae633891145e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33563399c7c4013" /><Relationship Type="http://schemas.openxmlformats.org/officeDocument/2006/relationships/notesMaster" Target="/ppt/notesMasters/notesMaster1.xml" Id="R209df87b046b49d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011b05f4c634885" /><Relationship Type="http://schemas.openxmlformats.org/officeDocument/2006/relationships/notesMaster" Target="/ppt/notesMasters/notesMaster1.xml" Id="R74860ad1cb88444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4746044ae1441cb" /><Relationship Type="http://schemas.openxmlformats.org/officeDocument/2006/relationships/notesMaster" Target="/ppt/notesMasters/notesMaster1.xml" Id="Re2b95a2219194f2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d5898b15eb848d6" /><Relationship Type="http://schemas.openxmlformats.org/officeDocument/2006/relationships/notesMaster" Target="/ppt/notesMasters/notesMaster1.xml" Id="R7a95730d4747487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9dcfcaab3a0424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0c948c6cde546c5" /><Relationship Type="http://schemas.openxmlformats.org/officeDocument/2006/relationships/slideLayout" Target="/ppt/slideLayouts/slideLayout1.xml" Id="Rd418b8a88ce94c9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418b8a88ce94c9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cd0c16ab264891" /><Relationship Type="http://schemas.openxmlformats.org/officeDocument/2006/relationships/notesSlide" Target="/ppt/notesSlides/notesSlide1.xml" Id="R047cba11884f42b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9a488edaf0420b" /><Relationship Type="http://schemas.openxmlformats.org/officeDocument/2006/relationships/notesSlide" Target="/ppt/notesSlides/notesSlide2.xml" Id="R65e2623ba1c54b9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52da3ba6014c02" /><Relationship Type="http://schemas.openxmlformats.org/officeDocument/2006/relationships/image" Target="/ppt/media/image.jpeg" Id="Rc098761a28914001" /><Relationship Type="http://schemas.openxmlformats.org/officeDocument/2006/relationships/notesSlide" Target="/ppt/notesSlides/notesSlide3.xml" Id="R3f27770a1c3b476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543e918b264c70" /><Relationship Type="http://schemas.openxmlformats.org/officeDocument/2006/relationships/notesSlide" Target="/ppt/notesSlides/notesSlide4.xml" Id="Rf5730b135a96423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9d55aa10a74909" /><Relationship Type="http://schemas.openxmlformats.org/officeDocument/2006/relationships/notesSlide" Target="/ppt/notesSlides/notesSlide5.xml" Id="Rd02cd26c330a47b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bed01da49a4e85" /><Relationship Type="http://schemas.openxmlformats.org/officeDocument/2006/relationships/notesSlide" Target="/ppt/notesSlides/notesSlide6.xml" Id="Rf480acf8816d4b7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92ff351a2b4d18" /><Relationship Type="http://schemas.openxmlformats.org/officeDocument/2006/relationships/notesSlide" Target="/ppt/notesSlides/notesSlide7.xml" Id="R5734a153f4a14a4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dc93a1f7864f46" /><Relationship Type="http://schemas.openxmlformats.org/officeDocument/2006/relationships/notesSlide" Target="/ppt/notesSlides/notesSlide8.xml" Id="Rbc6ae3eb64c741f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23e7bc2ff0493a" /><Relationship Type="http://schemas.openxmlformats.org/officeDocument/2006/relationships/image" Target="/ppt/media/image2.jpeg" Id="Rab2d0b0ef5b24747" /><Relationship Type="http://schemas.openxmlformats.org/officeDocument/2006/relationships/image" Target="/ppt/media/image3.jpeg" Id="Rbeaa7cd78e9b46d2" /><Relationship Type="http://schemas.openxmlformats.org/officeDocument/2006/relationships/notesSlide" Target="/ppt/notesSlides/notesSlide9.xml" Id="R1d1a3e58020e40b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618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7566644-E7DC-4D87-BD9F-BCDB98494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81B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BCC8DD-3128-4853-B508-55099D13E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846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E69312-B48E-458A-A820-2B4527557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628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FF7846"/>
                </a:solidFill>
                <a:latin typeface="Aptos Display"/>
                <a:ea typeface="Aptos Display"/>
                <a:cs typeface="Aptos Display"/>
              </a:defRPr>
            </a:pPr>
            <a:r>
              <a:rPr sz="3750" b="1">
                <a:solidFill>
                  <a:srgbClr val="FF7846"/>
                </a:solidFill>
                <a:latin typeface="Aptos Display"/>
                <a:ea typeface="Aptos Display"/>
                <a:cs typeface="Aptos Display"/>
              </a:rPr>
              <a:t>LANGSPHERE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06FF19-0FDC-4A3F-9F12-ACE7A104C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7239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0F6F4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F0F6F4"/>
                </a:solidFill>
                <a:latin typeface="Aptos Display"/>
                <a:ea typeface="Aptos Display"/>
                <a:cs typeface="Aptos Display"/>
              </a:rPr>
              <a:t>Interactive Programming Languages Directory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308677-B120-449B-B430-1410205B7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600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B4CCCA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0">
                <a:solidFill>
                  <a:srgbClr val="B4CCCA"/>
                </a:solidFill>
                <a:latin typeface="Aptos Display"/>
                <a:ea typeface="Aptos Display"/>
                <a:cs typeface="Aptos Display"/>
              </a:rPr>
              <a:t>A clear, searchable reference for exploring language history, technical properties, syntax, ecosystems, and trade-offs.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D33995-D1F8-4CCD-B1BB-9229175A2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1381125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B449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50AAC1-F05B-472F-9B19-EA3D3830B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0995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0F6F4"/>
                </a:solidFill>
                <a:latin typeface="Aptos Display"/>
                <a:ea typeface="Aptos Display"/>
                <a:cs typeface="Aptos Display"/>
              </a:defRPr>
            </a:pPr>
            <a:r>
              <a:rPr sz="1425" b="1">
                <a:solidFill>
                  <a:srgbClr val="F0F6F4"/>
                </a:solidFill>
                <a:latin typeface="Aptos Display"/>
                <a:ea typeface="Aptos Display"/>
                <a:cs typeface="Aptos Display"/>
              </a:rPr>
              <a:t>Website overview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91E3F9-3DBB-492A-A8EC-BFAAEDE23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290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5D6C2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0">
                <a:solidFill>
                  <a:srgbClr val="55D6C2"/>
                </a:solidFill>
                <a:latin typeface="Aptos Display"/>
                <a:ea typeface="Aptos Display"/>
                <a:cs typeface="Aptos Display"/>
              </a:rPr>
              <a:t>langsphere.vercel.app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3A5B15-F536-426D-A007-BD26B9D70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762000"/>
            <a:ext cx="3762375" cy="4572000"/>
          </a:xfrm>
          <a:prstGeom xmlns:a="http://schemas.openxmlformats.org/drawingml/2006/main" prst="roundRect">
            <a:avLst>
              <a:gd name="adj" fmla="val 2025"/>
            </a:avLst>
          </a:prstGeom>
          <a:solidFill xmlns:a="http://schemas.openxmlformats.org/drawingml/2006/main">
            <a:srgbClr val="0D383B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C10ABE-2B51-42C4-8306-560B2E646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11442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8250" b="1">
                <a:solidFill>
                  <a:srgbClr val="FF7846"/>
                </a:solidFill>
                <a:latin typeface="Aptos Display"/>
                <a:ea typeface="Aptos Display"/>
                <a:cs typeface="Aptos Display"/>
              </a:defRPr>
            </a:pPr>
            <a:r>
              <a:rPr sz="8250" b="1">
                <a:solidFill>
                  <a:srgbClr val="FF7846"/>
                </a:solidFill>
                <a:latin typeface="Aptos Display"/>
                <a:ea typeface="Aptos Display"/>
                <a:cs typeface="Aptos Display"/>
              </a:rPr>
              <a:t>{ 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9EDE85-55E4-49CC-8898-EAF78B6EA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638425"/>
            <a:ext cx="3000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F0F6F4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F0F6F4"/>
                </a:solidFill>
                <a:latin typeface="Aptos Display"/>
                <a:ea typeface="Aptos Display"/>
                <a:cs typeface="Aptos Display"/>
              </a:rPr>
              <a:t>Explore the language landscape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D3F445-6ADE-4A76-9ACB-5B5682912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457575"/>
            <a:ext cx="3000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B4CCCA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0">
                <a:solidFill>
                  <a:srgbClr val="B4CCCA"/>
                </a:solidFill>
                <a:latin typeface="Aptos Display"/>
                <a:ea typeface="Aptos Display"/>
                <a:cs typeface="Aptos Display"/>
              </a:rPr>
              <a:t>Directory  •  Timeline  •  Profiles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AF4470-11B9-4693-820C-527087F24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0"/>
            <a:ext cx="2476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B4CCCA"/>
                </a:solidFill>
                <a:latin typeface="Aptos Display"/>
                <a:ea typeface="Aptos Display"/>
                <a:cs typeface="Aptos Display"/>
              </a:defRPr>
            </a:pPr>
            <a:r>
              <a:rPr sz="1050" b="0">
                <a:solidFill>
                  <a:srgbClr val="B4CCCA"/>
                </a:solidFill>
                <a:latin typeface="Aptos Display"/>
                <a:ea typeface="Aptos Display"/>
                <a:cs typeface="Aptos Display"/>
              </a:rPr>
              <a:t>September 2026</a:t>
            </a:r>
          </a:p>
        </p:txBody>
      </p:sp>
    </p:spTree>
    <p:extLst>
      <p:ext uri="{BB962C8B-B14F-4D97-AF65-F5344CB8AC3E}">
        <p14:creationId xmlns:p14="http://schemas.microsoft.com/office/powerpoint/2010/main" val="97071932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618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8F83DA2-382E-48F9-9801-154EBA85A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F7846"/>
                </a:solidFill>
                <a:latin typeface="Aptos Display"/>
                <a:ea typeface="Aptos Display"/>
                <a:cs typeface="Aptos Display"/>
              </a:defRPr>
            </a:pPr>
            <a:r>
              <a:rPr sz="1050" b="1">
                <a:solidFill>
                  <a:srgbClr val="FF7846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2F3E27-5029-4F08-A16A-89A9CD4C1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9048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0F6F4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F0F6F4"/>
                </a:solidFill>
                <a:latin typeface="Aptos Display"/>
                <a:ea typeface="Aptos Display"/>
                <a:cs typeface="Aptos Display"/>
              </a:rPr>
              <a:t>What LangSphere provides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76876F-0302-4510-B2B9-B624ACD3A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38250"/>
            <a:ext cx="9334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B4CCCA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0">
                <a:solidFill>
                  <a:srgbClr val="B4CCCA"/>
                </a:solidFill>
                <a:latin typeface="Aptos Display"/>
                <a:ea typeface="Aptos Display"/>
                <a:cs typeface="Aptos Display"/>
              </a:rPr>
              <a:t>A curated discovery experience for programming languages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6FF432-D139-41EC-B460-DAC998BB2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1095375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846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DAD592-EBD2-4FD4-9F18-62EA6F62D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57400"/>
            <a:ext cx="5429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F0F6F4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0">
                <a:solidFill>
                  <a:srgbClr val="F0F6F4"/>
                </a:solidFill>
                <a:latin typeface="Aptos Display"/>
                <a:ea typeface="Aptos Display"/>
                <a:cs typeface="Aptos Display"/>
              </a:rPr>
              <a:t>The site turns a broad technical topic into a browsable, consistent directory. Visitors can locate a language, understand its place in history, then open a focused profile for deeper context.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66A517-A552-4741-A907-35992B8BE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14750"/>
            <a:ext cx="438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7846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FF7846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61682A-8E82-4904-842F-A3F13B082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667125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0F6F4"/>
                </a:solidFill>
                <a:latin typeface="Aptos Display"/>
                <a:ea typeface="Aptos Display"/>
                <a:cs typeface="Aptos Display"/>
              </a:defRPr>
            </a:pPr>
            <a:r>
              <a:rPr sz="1575" b="1">
                <a:solidFill>
                  <a:srgbClr val="F0F6F4"/>
                </a:solidFill>
                <a:latin typeface="Aptos Display"/>
                <a:ea typeface="Aptos Display"/>
                <a:cs typeface="Aptos Display"/>
              </a:rPr>
              <a:t>Language directory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0D8866-03C6-4898-80AD-C34905618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3648075"/>
            <a:ext cx="6524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B4CCCA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0">
                <a:solidFill>
                  <a:srgbClr val="B4CCCA"/>
                </a:solidFill>
                <a:latin typeface="Aptos Display"/>
                <a:ea typeface="Aptos Display"/>
                <a:cs typeface="Aptos Display"/>
              </a:rPr>
              <a:t>Search and filter languages by domain, paradigm, execution model, and use case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70F7AA-531F-4852-8447-C97A2119A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67200"/>
            <a:ext cx="9715500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76469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52849A-9218-4A0B-B2CD-D3CB31440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0"/>
            <a:ext cx="438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7846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FF7846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52EF4AB-5C3B-4C7C-82A7-DC2D9C7F0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524375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0F6F4"/>
                </a:solidFill>
                <a:latin typeface="Aptos Display"/>
                <a:ea typeface="Aptos Display"/>
                <a:cs typeface="Aptos Display"/>
              </a:defRPr>
            </a:pPr>
            <a:r>
              <a:rPr sz="1575" b="1">
                <a:solidFill>
                  <a:srgbClr val="F0F6F4"/>
                </a:solidFill>
                <a:latin typeface="Aptos Display"/>
                <a:ea typeface="Aptos Display"/>
                <a:cs typeface="Aptos Display"/>
              </a:rPr>
              <a:t>History timeline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9190C6-B0AC-4376-B13D-9B554BA2F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4505325"/>
            <a:ext cx="6524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B4CCCA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0">
                <a:solidFill>
                  <a:srgbClr val="B4CCCA"/>
                </a:solidFill>
                <a:latin typeface="Aptos Display"/>
                <a:ea typeface="Aptos Display"/>
                <a:cs typeface="Aptos Display"/>
              </a:rPr>
              <a:t>Trace releases and creators from foundational systems languages to modern platforms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CED895-8A15-4AEB-9D26-C0AF0D704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9715500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76469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6CF0149-0B16-4B55-9352-C42BF08FC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438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7846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FF7846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B74B806-0BE4-45E1-B4FF-2ED909220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381625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0F6F4"/>
                </a:solidFill>
                <a:latin typeface="Aptos Display"/>
                <a:ea typeface="Aptos Display"/>
                <a:cs typeface="Aptos Display"/>
              </a:defRPr>
            </a:pPr>
            <a:r>
              <a:rPr sz="1575" b="1">
                <a:solidFill>
                  <a:srgbClr val="F0F6F4"/>
                </a:solidFill>
                <a:latin typeface="Aptos Display"/>
                <a:ea typeface="Aptos Display"/>
                <a:cs typeface="Aptos Display"/>
              </a:rPr>
              <a:t>Language profiles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2E19D7-2683-4F9D-902A-C4568E153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5362575"/>
            <a:ext cx="6524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B4CCCA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0">
                <a:solidFill>
                  <a:srgbClr val="B4CCCA"/>
                </a:solidFill>
                <a:latin typeface="Aptos Display"/>
                <a:ea typeface="Aptos Display"/>
                <a:cs typeface="Aptos Display"/>
              </a:rPr>
              <a:t>Review descriptions, core ideas, technical specifications, syntax, ecosystem, and trade-offs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3F32A00-010C-4709-B41E-EC88BA781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81700"/>
            <a:ext cx="9715500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76469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997D3D3-3D39-4641-AC0D-719DD1887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B4CCCA"/>
                </a:solidFill>
                <a:latin typeface="Aptos Display"/>
                <a:ea typeface="Aptos Display"/>
                <a:cs typeface="Aptos Display"/>
              </a:defRPr>
            </a:pPr>
            <a:r>
              <a:rPr sz="750" b="1">
                <a:solidFill>
                  <a:srgbClr val="B4CCCA"/>
                </a:solidFill>
                <a:latin typeface="Aptos Display"/>
                <a:ea typeface="Aptos Display"/>
                <a:cs typeface="Aptos Display"/>
              </a:rPr>
              <a:t>LANGSPHERE  /  WEBSITE OVERVIEW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7ECABB6-1F01-4062-813C-1584E1B38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FF7846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FF7846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07197833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618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F8CE2DD-886D-4719-B9E8-09A50B76A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F7846"/>
                </a:solidFill>
                <a:latin typeface="Aptos Display"/>
                <a:ea typeface="Aptos Display"/>
                <a:cs typeface="Aptos Display"/>
              </a:defRPr>
            </a:pPr>
            <a:r>
              <a:rPr sz="1050" b="1">
                <a:solidFill>
                  <a:srgbClr val="FF7846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874013-F10F-4A4A-984F-35AF43719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9048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0F6F4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F0F6F4"/>
                </a:solidFill>
                <a:latin typeface="Aptos Display"/>
                <a:ea typeface="Aptos Display"/>
                <a:cs typeface="Aptos Display"/>
              </a:rPr>
              <a:t>Directory discovery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AA8CD1-65F4-438E-82DC-2B5E20735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38250"/>
            <a:ext cx="9334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B4CCCA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0">
                <a:solidFill>
                  <a:srgbClr val="B4CCCA"/>
                </a:solidFill>
                <a:latin typeface="Aptos Display"/>
                <a:ea typeface="Aptos Display"/>
                <a:cs typeface="Aptos Display"/>
              </a:rPr>
              <a:t>A single starting point for finding the right language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E9A134-0189-4ECF-971C-9B4453706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1095375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846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703DC0-AE4B-46A0-9095-7BDABB133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1981200"/>
            <a:ext cx="6991350" cy="3990975"/>
          </a:xfrm>
          <a:prstGeom xmlns:a="http://schemas.openxmlformats.org/drawingml/2006/main" prst="roundRect">
            <a:avLst>
              <a:gd name="adj" fmla="val 1909"/>
            </a:avLst>
          </a:prstGeom>
          <a:solidFill xmlns:a="http://schemas.openxmlformats.org/drawingml/2006/main">
            <a:srgbClr val="14565A"/>
          </a:solidFill>
          <a:ln xmlns:a="http://schemas.openxmlformats.org/drawingml/2006/main" w="0">
            <a:noFill/>
          </a:ln>
        </p:spPr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98761a28914001"/>
          <a:srcRect xmlns:a="http://schemas.openxmlformats.org/drawingml/2006/main" l="0" t="35" r="0" b="3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9600" y="2047875"/>
            <a:ext cx="6858000" cy="3857625"/>
          </a:xfrm>
          <a:prstGeom xmlns:a="http://schemas.openxmlformats.org/drawingml/2006/main" prst="roundRect">
            <a:avLst>
              <a:gd name="adj" fmla="val 2963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4C75B9-14E1-4FC3-A74D-5DF01BE05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143125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784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F7846"/>
                </a:solidFill>
                <a:latin typeface="Aptos Display"/>
                <a:ea typeface="Aptos Display"/>
                <a:cs typeface="Aptos Display"/>
              </a:rPr>
              <a:t>Navigation cues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0DCBB7-5D01-4930-96C4-F6C8FE819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667000"/>
            <a:ext cx="2476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0F6F4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0F6F4"/>
                </a:solidFill>
                <a:latin typeface="Aptos Display"/>
                <a:ea typeface="Aptos Display"/>
                <a:cs typeface="Aptos Display"/>
              </a:rPr>
              <a:t>Search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775855-1273-4214-BC6D-4C81F5A82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943225"/>
            <a:ext cx="3190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B4CCCA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0">
                <a:solidFill>
                  <a:srgbClr val="B4CCCA"/>
                </a:solidFill>
                <a:latin typeface="Aptos Display"/>
                <a:ea typeface="Aptos Display"/>
                <a:cs typeface="Aptos Display"/>
              </a:rPr>
              <a:t>Find a language by name, creator, paradigm, or feature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276B30-6A28-4421-8854-3CFD9D4EA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67125"/>
            <a:ext cx="2476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0F6F4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0F6F4"/>
                </a:solidFill>
                <a:latin typeface="Aptos Display"/>
                <a:ea typeface="Aptos Display"/>
                <a:cs typeface="Aptos Display"/>
              </a:rPr>
              <a:t>Filters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AB39F2-BCD3-4190-9B88-22F4198D7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943350"/>
            <a:ext cx="3190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B4CCCA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0">
                <a:solidFill>
                  <a:srgbClr val="B4CCCA"/>
                </a:solidFill>
                <a:latin typeface="Aptos Display"/>
                <a:ea typeface="Aptos Display"/>
                <a:cs typeface="Aptos Display"/>
              </a:rPr>
              <a:t>Narrow the list by Systems, Web Development, Data &amp; AI, Functional, Mobile, and more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112092-A316-412F-BFA5-B41EFD6D6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667250"/>
            <a:ext cx="2476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0F6F4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0F6F4"/>
                </a:solidFill>
                <a:latin typeface="Aptos Display"/>
                <a:ea typeface="Aptos Display"/>
                <a:cs typeface="Aptos Display"/>
              </a:rPr>
              <a:t>Cards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4D9AB4-2218-4D04-B857-14BAE8E85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943475"/>
            <a:ext cx="3190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B4CCCA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0">
                <a:solidFill>
                  <a:srgbClr val="B4CCCA"/>
                </a:solidFill>
                <a:latin typeface="Aptos Display"/>
                <a:ea typeface="Aptos Display"/>
                <a:cs typeface="Aptos Display"/>
              </a:rPr>
              <a:t>Scan a short description, release year, category tags, and a direct path to details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4E4D8F-AC16-4517-8830-A134D9992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B4CCCA"/>
                </a:solidFill>
                <a:latin typeface="Aptos Display"/>
                <a:ea typeface="Aptos Display"/>
                <a:cs typeface="Aptos Display"/>
              </a:defRPr>
            </a:pPr>
            <a:r>
              <a:rPr sz="750" b="1">
                <a:solidFill>
                  <a:srgbClr val="B4CCCA"/>
                </a:solidFill>
                <a:latin typeface="Aptos Display"/>
                <a:ea typeface="Aptos Display"/>
                <a:cs typeface="Aptos Display"/>
              </a:rPr>
              <a:t>LANGSPHERE  /  WEBSITE OVERVIEW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230DA57-1787-4521-B941-A32FB6C0B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FF7846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FF7846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36634231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618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B9F5D00-2E16-40F9-B4D1-45B38C188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F7846"/>
                </a:solidFill>
                <a:latin typeface="Aptos Display"/>
                <a:ea typeface="Aptos Display"/>
                <a:cs typeface="Aptos Display"/>
              </a:defRPr>
            </a:pPr>
            <a:r>
              <a:rPr sz="1050" b="1">
                <a:solidFill>
                  <a:srgbClr val="FF7846"/>
                </a:solidFill>
                <a:latin typeface="Aptos Display"/>
                <a:ea typeface="Aptos Display"/>
                <a:cs typeface="Aptos Display"/>
              </a:rPr>
              <a:t>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1C97C1-DEF6-4652-9C72-7AA837BE4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9048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0F6F4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F0F6F4"/>
                </a:solidFill>
                <a:latin typeface="Aptos Display"/>
                <a:ea typeface="Aptos Display"/>
                <a:cs typeface="Aptos Display"/>
              </a:rPr>
              <a:t>User workflow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6C09C1-A707-408B-A1FB-945771C4D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38250"/>
            <a:ext cx="9334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B4CCCA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0">
                <a:solidFill>
                  <a:srgbClr val="B4CCCA"/>
                </a:solidFill>
                <a:latin typeface="Aptos Display"/>
                <a:ea typeface="Aptos Display"/>
                <a:cs typeface="Aptos Display"/>
              </a:rPr>
              <a:t>From broad exploration to practical understanding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75E78D-DF7D-405A-9DD3-3505A2CA8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1095375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846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8FF529-7120-48CC-BDB4-B1028F9D4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57450"/>
            <a:ext cx="2286000" cy="219075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0D383B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52F741-239E-46AB-924C-B564B36D2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47950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F7846"/>
                </a:solidFill>
                <a:latin typeface="Aptos Display"/>
                <a:ea typeface="Aptos Display"/>
                <a:cs typeface="Aptos Display"/>
              </a:defRPr>
            </a:pPr>
            <a:r>
              <a:rPr sz="1575" b="1">
                <a:solidFill>
                  <a:srgbClr val="FF7846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6F1BFF-4F9E-4D41-B596-2A68BEA26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52775"/>
            <a:ext cx="1885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0F6F4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F0F6F4"/>
                </a:solidFill>
                <a:latin typeface="Aptos Display"/>
                <a:ea typeface="Aptos Display"/>
                <a:cs typeface="Aptos Display"/>
              </a:rPr>
              <a:t>Start in the directory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3B2D08-EBE8-4F0C-85CB-A56D910EB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43325"/>
            <a:ext cx="18573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B4CCCA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0">
                <a:solidFill>
                  <a:srgbClr val="B4CCCA"/>
                </a:solidFill>
                <a:latin typeface="Aptos Display"/>
                <a:ea typeface="Aptos Display"/>
                <a:cs typeface="Aptos Display"/>
              </a:rPr>
              <a:t>Browse the language set or search for a known option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9AEC04-D631-48B6-9D8D-40F07C673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286125"/>
            <a:ext cx="361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F3B449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F3B449"/>
                </a:solidFill>
                <a:latin typeface="Aptos Display"/>
                <a:ea typeface="Aptos Display"/>
                <a:cs typeface="Aptos Display"/>
              </a:rPr>
              <a:t>›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40EBC4-CB38-4D90-8000-85CB3D57F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457450"/>
            <a:ext cx="2286000" cy="219075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0D383B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7A394D-5955-475D-97F9-F371DB8D8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647950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F7846"/>
                </a:solidFill>
                <a:latin typeface="Aptos Display"/>
                <a:ea typeface="Aptos Display"/>
                <a:cs typeface="Aptos Display"/>
              </a:defRPr>
            </a:pPr>
            <a:r>
              <a:rPr sz="1575" b="1">
                <a:solidFill>
                  <a:srgbClr val="FF7846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093029-C824-4661-A03D-124E1E8B0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152775"/>
            <a:ext cx="1885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0F6F4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F0F6F4"/>
                </a:solidFill>
                <a:latin typeface="Aptos Display"/>
                <a:ea typeface="Aptos Display"/>
                <a:cs typeface="Aptos Display"/>
              </a:rPr>
              <a:t>Refine the view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6B7F48-85F2-4FBF-BEDD-26EDA69C2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743325"/>
            <a:ext cx="18573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B4CCCA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0">
                <a:solidFill>
                  <a:srgbClr val="B4CCCA"/>
                </a:solidFill>
                <a:latin typeface="Aptos Display"/>
                <a:ea typeface="Aptos Display"/>
                <a:cs typeface="Aptos Display"/>
              </a:rPr>
              <a:t>Use filters to focus on a paradigm, platform, or technical characteristic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34D58B-985C-4AEB-BC30-E34D9C057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286125"/>
            <a:ext cx="361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F3B449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F3B449"/>
                </a:solidFill>
                <a:latin typeface="Aptos Display"/>
                <a:ea typeface="Aptos Display"/>
                <a:cs typeface="Aptos Display"/>
              </a:rPr>
              <a:t>›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694F2F-7B81-499A-ACBE-6B8D623E7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457450"/>
            <a:ext cx="2286000" cy="219075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0D383B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7CCA301-81D6-43F8-A604-BF7FB29D9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647950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F7846"/>
                </a:solidFill>
                <a:latin typeface="Aptos Display"/>
                <a:ea typeface="Aptos Display"/>
                <a:cs typeface="Aptos Display"/>
              </a:defRPr>
            </a:pPr>
            <a:r>
              <a:rPr sz="1575" b="1">
                <a:solidFill>
                  <a:srgbClr val="FF7846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5FE3208-C516-4FF5-BAEC-C1D552EEC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152775"/>
            <a:ext cx="1885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0F6F4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F0F6F4"/>
                </a:solidFill>
                <a:latin typeface="Aptos Display"/>
                <a:ea typeface="Aptos Display"/>
                <a:cs typeface="Aptos Display"/>
              </a:rPr>
              <a:t>Open a language profile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8AE3EAC-D97A-4688-B1E8-EFA989F24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743325"/>
            <a:ext cx="18573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B4CCCA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0">
                <a:solidFill>
                  <a:srgbClr val="B4CCCA"/>
                </a:solidFill>
                <a:latin typeface="Aptos Display"/>
                <a:ea typeface="Aptos Display"/>
                <a:cs typeface="Aptos Display"/>
              </a:rPr>
              <a:t>Move from the summary card into structured detail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76E433D-AF8B-4CFA-93FC-C9F202EAA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286125"/>
            <a:ext cx="361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F3B449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F3B449"/>
                </a:solidFill>
                <a:latin typeface="Aptos Display"/>
                <a:ea typeface="Aptos Display"/>
                <a:cs typeface="Aptos Display"/>
              </a:rPr>
              <a:t>›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33DE386-E14D-4894-948B-7221B3972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457450"/>
            <a:ext cx="2286000" cy="219075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0D383B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B779AEB-B77B-49C2-8E03-F21C5B5AD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647950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F7846"/>
                </a:solidFill>
                <a:latin typeface="Aptos Display"/>
                <a:ea typeface="Aptos Display"/>
                <a:cs typeface="Aptos Display"/>
              </a:defRPr>
            </a:pPr>
            <a:r>
              <a:rPr sz="1575" b="1">
                <a:solidFill>
                  <a:srgbClr val="FF7846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E6C506-3FE6-4724-B381-3DD99A234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152775"/>
            <a:ext cx="1885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0F6F4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F0F6F4"/>
                </a:solidFill>
                <a:latin typeface="Aptos Display"/>
                <a:ea typeface="Aptos Display"/>
                <a:cs typeface="Aptos Display"/>
              </a:rPr>
              <a:t>Compare and learn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1609AD6-ABAA-4592-ABDA-2D45B241D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743325"/>
            <a:ext cx="18573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B4CCCA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0">
                <a:solidFill>
                  <a:srgbClr val="B4CCCA"/>
                </a:solidFill>
                <a:latin typeface="Aptos Display"/>
                <a:ea typeface="Aptos Display"/>
                <a:cs typeface="Aptos Display"/>
              </a:rPr>
              <a:t>Use specifications, syntax, ecosystem notes, and pros and cons to evaluate fit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CBF2F22-4003-4C92-8DB8-8DACE7E32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86375"/>
            <a:ext cx="9810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B4CCCA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0">
                <a:solidFill>
                  <a:srgbClr val="B4CCCA"/>
                </a:solidFill>
                <a:latin typeface="Aptos Display"/>
                <a:ea typeface="Aptos Display"/>
                <a:cs typeface="Aptos Display"/>
              </a:rPr>
              <a:t>The progression keeps the first decision lightweight and provides more technical depth only after a visitor selects a language.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BAB1851-C556-4105-A839-9C8A672C3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B4CCCA"/>
                </a:solidFill>
                <a:latin typeface="Aptos Display"/>
                <a:ea typeface="Aptos Display"/>
                <a:cs typeface="Aptos Display"/>
              </a:defRPr>
            </a:pPr>
            <a:r>
              <a:rPr sz="750" b="1">
                <a:solidFill>
                  <a:srgbClr val="B4CCCA"/>
                </a:solidFill>
                <a:latin typeface="Aptos Display"/>
                <a:ea typeface="Aptos Display"/>
                <a:cs typeface="Aptos Display"/>
              </a:rPr>
              <a:t>LANGSPHERE  /  WEBSITE OVERVIEW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738F045-29C1-46F4-B737-F00E7ECB5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FF7846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FF7846"/>
                </a:solidFill>
                <a:latin typeface="Aptos Display"/>
                <a:ea typeface="Aptos Display"/>
                <a:cs typeface="Aptos Display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90338143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618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D415EC6-916A-40CB-8AB1-A50AE4955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F7846"/>
                </a:solidFill>
                <a:latin typeface="Aptos Display"/>
                <a:ea typeface="Aptos Display"/>
                <a:cs typeface="Aptos Display"/>
              </a:defRPr>
            </a:pPr>
            <a:r>
              <a:rPr sz="1050" b="1">
                <a:solidFill>
                  <a:srgbClr val="FF7846"/>
                </a:solidFill>
                <a:latin typeface="Aptos Display"/>
                <a:ea typeface="Aptos Display"/>
                <a:cs typeface="Aptos Display"/>
              </a:rPr>
              <a:t>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E67DC9-C4DC-4927-8916-727AF58C4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9048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0F6F4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F0F6F4"/>
                </a:solidFill>
                <a:latin typeface="Aptos Display"/>
                <a:ea typeface="Aptos Display"/>
                <a:cs typeface="Aptos Display"/>
              </a:rPr>
              <a:t>Language profile structure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C53CF8-B0D5-4439-9C30-4F286CDDD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38250"/>
            <a:ext cx="9334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B4CCCA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0">
                <a:solidFill>
                  <a:srgbClr val="B4CCCA"/>
                </a:solidFill>
                <a:latin typeface="Aptos Display"/>
                <a:ea typeface="Aptos Display"/>
                <a:cs typeface="Aptos Display"/>
              </a:rPr>
              <a:t>A repeatable framework for explaining each language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8145D2-C2E7-4EB4-910B-ECC48902A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1095375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846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533189-07C2-4A56-A766-E7402F9CE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F7846"/>
                </a:solidFill>
                <a:latin typeface="Aptos Display"/>
                <a:ea typeface="Aptos Display"/>
                <a:cs typeface="Aptos Display"/>
              </a:defRPr>
            </a:pPr>
            <a:r>
              <a:rPr sz="1575" b="1">
                <a:solidFill>
                  <a:srgbClr val="FF7846"/>
                </a:solidFill>
                <a:latin typeface="Aptos Display"/>
                <a:ea typeface="Aptos Display"/>
                <a:cs typeface="Aptos Display"/>
              </a:rPr>
              <a:t>Profile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A8AFC3-263C-4FAC-AAF5-6241D15CD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05075"/>
            <a:ext cx="4191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B4CCCA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0">
                <a:solidFill>
                  <a:srgbClr val="B4CCCA"/>
                </a:solidFill>
                <a:latin typeface="Aptos Display"/>
                <a:ea typeface="Aptos Display"/>
                <a:cs typeface="Aptos Display"/>
              </a:rPr>
              <a:t>Identity, creator, release year, and a concise description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644100-2F39-4291-BCD6-B2FD86931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67050"/>
            <a:ext cx="4429125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76469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4F6870-C777-403E-8098-5E1F31C51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1907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0F6F4"/>
                </a:solidFill>
                <a:latin typeface="Aptos Display"/>
                <a:ea typeface="Aptos Display"/>
                <a:cs typeface="Aptos Display"/>
              </a:defRPr>
            </a:pPr>
            <a:r>
              <a:rPr sz="1575" b="1">
                <a:solidFill>
                  <a:srgbClr val="F0F6F4"/>
                </a:solidFill>
                <a:latin typeface="Aptos Display"/>
                <a:ea typeface="Aptos Display"/>
                <a:cs typeface="Aptos Display"/>
              </a:rPr>
              <a:t>Overview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EF1FE6-7B8F-4783-847E-058834B36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505075"/>
            <a:ext cx="4191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B4CCCA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0">
                <a:solidFill>
                  <a:srgbClr val="B4CCCA"/>
                </a:solidFill>
                <a:latin typeface="Aptos Display"/>
                <a:ea typeface="Aptos Display"/>
                <a:cs typeface="Aptos Display"/>
              </a:rPr>
              <a:t>Primary philosophy and notable features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5B27C4-6B62-43B0-8B26-EBEB494D2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3067050"/>
            <a:ext cx="4429125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76469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66C0E4-E0B9-40B7-B5DE-6B4FBA5BA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099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0F6F4"/>
                </a:solidFill>
                <a:latin typeface="Aptos Display"/>
                <a:ea typeface="Aptos Display"/>
                <a:cs typeface="Aptos Display"/>
              </a:defRPr>
            </a:pPr>
            <a:r>
              <a:rPr sz="1575" b="1">
                <a:solidFill>
                  <a:srgbClr val="F0F6F4"/>
                </a:solidFill>
                <a:latin typeface="Aptos Display"/>
                <a:ea typeface="Aptos Display"/>
                <a:cs typeface="Aptos Display"/>
              </a:rPr>
              <a:t>Beginner guide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F278BB-5D6D-4FD6-9048-1752C1808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24275"/>
            <a:ext cx="4191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B4CCCA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0">
                <a:solidFill>
                  <a:srgbClr val="B4CCCA"/>
                </a:solidFill>
                <a:latin typeface="Aptos Display"/>
                <a:ea typeface="Aptos Display"/>
                <a:cs typeface="Aptos Display"/>
              </a:rPr>
              <a:t>Accessible starting points for new learners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31B860F-ACB3-4213-8D5E-B4BBC3D84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86250"/>
            <a:ext cx="4429125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76469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DCD9DA-EE27-46C7-ACD5-83D580000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34099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0F6F4"/>
                </a:solidFill>
                <a:latin typeface="Aptos Display"/>
                <a:ea typeface="Aptos Display"/>
                <a:cs typeface="Aptos Display"/>
              </a:defRPr>
            </a:pPr>
            <a:r>
              <a:rPr sz="1575" b="1">
                <a:solidFill>
                  <a:srgbClr val="F0F6F4"/>
                </a:solidFill>
                <a:latin typeface="Aptos Display"/>
                <a:ea typeface="Aptos Display"/>
                <a:cs typeface="Aptos Display"/>
              </a:rPr>
              <a:t>Syntax highlight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7EBF542-07AD-4C75-84B2-55A5B35B1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3724275"/>
            <a:ext cx="4191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B4CCCA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0">
                <a:solidFill>
                  <a:srgbClr val="B4CCCA"/>
                </a:solidFill>
                <a:latin typeface="Aptos Display"/>
                <a:ea typeface="Aptos Display"/>
                <a:cs typeface="Aptos Display"/>
              </a:rPr>
              <a:t>Recognizable code patterns and conventions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CF7F2CC-AED3-44BE-8C06-CF5F17B26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286250"/>
            <a:ext cx="4429125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76469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01B349-83C8-4E31-B6A3-80A6E9CCA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291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0F6F4"/>
                </a:solidFill>
                <a:latin typeface="Aptos Display"/>
                <a:ea typeface="Aptos Display"/>
                <a:cs typeface="Aptos Display"/>
              </a:defRPr>
            </a:pPr>
            <a:r>
              <a:rPr sz="1575" b="1">
                <a:solidFill>
                  <a:srgbClr val="F0F6F4"/>
                </a:solidFill>
                <a:latin typeface="Aptos Display"/>
                <a:ea typeface="Aptos Display"/>
                <a:cs typeface="Aptos Display"/>
              </a:rPr>
              <a:t>Ecosystem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4927570-0E43-4DA8-B84A-961BF1F98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43475"/>
            <a:ext cx="4191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B4CCCA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0">
                <a:solidFill>
                  <a:srgbClr val="B4CCCA"/>
                </a:solidFill>
                <a:latin typeface="Aptos Display"/>
                <a:ea typeface="Aptos Display"/>
                <a:cs typeface="Aptos Display"/>
              </a:rPr>
              <a:t>Tools, platforms, libraries, and community context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926D066-B5C3-4973-93C8-B859A759F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05450"/>
            <a:ext cx="4429125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76469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874C7F6-8B66-47A3-B15A-37F2406DB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6291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0F6F4"/>
                </a:solidFill>
                <a:latin typeface="Aptos Display"/>
                <a:ea typeface="Aptos Display"/>
                <a:cs typeface="Aptos Display"/>
              </a:defRPr>
            </a:pPr>
            <a:r>
              <a:rPr sz="1575" b="1">
                <a:solidFill>
                  <a:srgbClr val="F0F6F4"/>
                </a:solidFill>
                <a:latin typeface="Aptos Display"/>
                <a:ea typeface="Aptos Display"/>
                <a:cs typeface="Aptos Display"/>
              </a:rPr>
              <a:t>Pros &amp; cons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1B88A1D-FB82-430F-AF2A-828EAD80E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943475"/>
            <a:ext cx="4191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B4CCCA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0">
                <a:solidFill>
                  <a:srgbClr val="B4CCCA"/>
                </a:solidFill>
                <a:latin typeface="Aptos Display"/>
                <a:ea typeface="Aptos Display"/>
                <a:cs typeface="Aptos Display"/>
              </a:rPr>
              <a:t>Useful strengths and limits for evaluation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9E5A439-93A4-412E-A097-B77CA0446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5505450"/>
            <a:ext cx="4429125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76469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1B72433-DAF5-4890-90A9-31E32ED5F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B4CCCA"/>
                </a:solidFill>
                <a:latin typeface="Aptos Display"/>
                <a:ea typeface="Aptos Display"/>
                <a:cs typeface="Aptos Display"/>
              </a:defRPr>
            </a:pPr>
            <a:r>
              <a:rPr sz="750" b="1">
                <a:solidFill>
                  <a:srgbClr val="B4CCCA"/>
                </a:solidFill>
                <a:latin typeface="Aptos Display"/>
                <a:ea typeface="Aptos Display"/>
                <a:cs typeface="Aptos Display"/>
              </a:rPr>
              <a:t>LANGSPHERE  /  WEBSITE OVERVIEW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50931D7-5B22-4BEF-86D8-192F6B64A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FF7846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FF7846"/>
                </a:solidFill>
                <a:latin typeface="Aptos Display"/>
                <a:ea typeface="Aptos Display"/>
                <a:cs typeface="Aptos Display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57579022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618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40738F2-A282-4FB4-8C01-CC0080F33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F7846"/>
                </a:solidFill>
                <a:latin typeface="Aptos Display"/>
                <a:ea typeface="Aptos Display"/>
                <a:cs typeface="Aptos Display"/>
              </a:defRPr>
            </a:pPr>
            <a:r>
              <a:rPr sz="1050" b="1">
                <a:solidFill>
                  <a:srgbClr val="FF7846"/>
                </a:solidFill>
                <a:latin typeface="Aptos Display"/>
                <a:ea typeface="Aptos Display"/>
                <a:cs typeface="Aptos Display"/>
              </a:rPr>
              <a:t>06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EED140-148C-4A03-8F72-CD3F72B0A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9048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0F6F4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F0F6F4"/>
                </a:solidFill>
                <a:latin typeface="Aptos Display"/>
                <a:ea typeface="Aptos Display"/>
                <a:cs typeface="Aptos Display"/>
              </a:rPr>
              <a:t>Who LangSphere serves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330853-E451-4021-BEE7-2F0714A0A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38250"/>
            <a:ext cx="9334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B4CCCA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0">
                <a:solidFill>
                  <a:srgbClr val="B4CCCA"/>
                </a:solidFill>
                <a:latin typeface="Aptos Display"/>
                <a:ea typeface="Aptos Display"/>
                <a:cs typeface="Aptos Display"/>
              </a:rPr>
              <a:t>The directory supports learning, selection, and technical context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CA92A0-3394-4777-90C3-273F3B8B5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1095375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846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12A90C-51FD-4DAB-86CD-B3D552742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9800"/>
            <a:ext cx="228600" cy="5715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7846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4F431E-4497-4B58-B43F-2DAB0EC5C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209800"/>
            <a:ext cx="2381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0F6F4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0F6F4"/>
                </a:solidFill>
                <a:latin typeface="Aptos Display"/>
                <a:ea typeface="Aptos Display"/>
                <a:cs typeface="Aptos Display"/>
              </a:rPr>
              <a:t>Developers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2FCE4C-BB59-4A93-992A-9785D352D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228850"/>
            <a:ext cx="657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B4CCCA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0">
                <a:solidFill>
                  <a:srgbClr val="B4CCCA"/>
                </a:solidFill>
                <a:latin typeface="Aptos Display"/>
                <a:ea typeface="Aptos Display"/>
                <a:cs typeface="Aptos Display"/>
              </a:rPr>
              <a:t>Quickly shortlist languages for a project, platform, or programming style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F43470-AD40-4ECA-84C9-0EBE0A96B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52775"/>
            <a:ext cx="228600" cy="5715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14565A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FDE41E-FFAA-447F-9882-8AAC9ABBA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152775"/>
            <a:ext cx="2381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0F6F4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0F6F4"/>
                </a:solidFill>
                <a:latin typeface="Aptos Display"/>
                <a:ea typeface="Aptos Display"/>
                <a:cs typeface="Aptos Display"/>
              </a:rPr>
              <a:t>Students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4F6A19-3AA2-4D9F-8299-265FEF821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171825"/>
            <a:ext cx="657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B4CCCA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0">
                <a:solidFill>
                  <a:srgbClr val="B4CCCA"/>
                </a:solidFill>
                <a:latin typeface="Aptos Display"/>
                <a:ea typeface="Aptos Display"/>
                <a:cs typeface="Aptos Display"/>
              </a:rPr>
              <a:t>Connect historical context with beginner-friendly concepts and syntax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E61E1D-3CC3-41DA-B06A-CE6119B60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0"/>
            <a:ext cx="228600" cy="5715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14565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E9B8B3-B3F5-4EF4-B5B3-A5F4212D0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095750"/>
            <a:ext cx="2381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0F6F4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0F6F4"/>
                </a:solidFill>
                <a:latin typeface="Aptos Display"/>
                <a:ea typeface="Aptos Display"/>
                <a:cs typeface="Aptos Display"/>
              </a:rPr>
              <a:t>Researchers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316902-6138-480C-9260-518952784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114800"/>
            <a:ext cx="657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B4CCCA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0">
                <a:solidFill>
                  <a:srgbClr val="B4CCCA"/>
                </a:solidFill>
                <a:latin typeface="Aptos Display"/>
                <a:ea typeface="Aptos Display"/>
                <a:cs typeface="Aptos Display"/>
              </a:rPr>
              <a:t>Use consistent language summaries to orient further technical investigation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8ABAEA-99A6-41D5-8BE5-889B396B5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38725"/>
            <a:ext cx="228600" cy="5715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14565A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4873291-2F79-4BE4-BAD6-240110D17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038725"/>
            <a:ext cx="2381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0F6F4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0F6F4"/>
                </a:solidFill>
                <a:latin typeface="Aptos Display"/>
                <a:ea typeface="Aptos Display"/>
                <a:cs typeface="Aptos Display"/>
              </a:rPr>
              <a:t>Educators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C77BBC2-30EB-446D-941B-D62959BCA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057775"/>
            <a:ext cx="657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B4CCCA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0">
                <a:solidFill>
                  <a:srgbClr val="B4CCCA"/>
                </a:solidFill>
                <a:latin typeface="Aptos Display"/>
                <a:ea typeface="Aptos Display"/>
                <a:cs typeface="Aptos Display"/>
              </a:rPr>
              <a:t>Use profiles and the timeline as visual entry points for course discussions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EBC2CA1-EE4C-4026-8CBE-768FE2C8A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00750"/>
            <a:ext cx="962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5D6C2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0">
                <a:solidFill>
                  <a:srgbClr val="55D6C2"/>
                </a:solidFill>
                <a:latin typeface="Aptos Display"/>
                <a:ea typeface="Aptos Display"/>
                <a:cs typeface="Aptos Display"/>
              </a:rPr>
              <a:t>The content model helps visitors move from “What is this language?” to “Where does it fit?” without needing to consult multiple sources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5CD533A-E7D7-4F12-9682-07CD18A04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B4CCCA"/>
                </a:solidFill>
                <a:latin typeface="Aptos Display"/>
                <a:ea typeface="Aptos Display"/>
                <a:cs typeface="Aptos Display"/>
              </a:defRPr>
            </a:pPr>
            <a:r>
              <a:rPr sz="750" b="1">
                <a:solidFill>
                  <a:srgbClr val="B4CCCA"/>
                </a:solidFill>
                <a:latin typeface="Aptos Display"/>
                <a:ea typeface="Aptos Display"/>
                <a:cs typeface="Aptos Display"/>
              </a:rPr>
              <a:t>LANGSPHERE  /  WEBSITE OVERVIEW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B319B8B-B1C0-40ED-B7A3-887EE0C49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FF7846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FF7846"/>
                </a:solidFill>
                <a:latin typeface="Aptos Display"/>
                <a:ea typeface="Aptos Display"/>
                <a:cs typeface="Aptos Display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62038794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618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8CA5A3A-7AF1-49FD-ADC2-64760AFC3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F7846"/>
                </a:solidFill>
                <a:latin typeface="Aptos Display"/>
                <a:ea typeface="Aptos Display"/>
                <a:cs typeface="Aptos Display"/>
              </a:defRPr>
            </a:pPr>
            <a:r>
              <a:rPr sz="1050" b="1">
                <a:solidFill>
                  <a:srgbClr val="FF7846"/>
                </a:solidFill>
                <a:latin typeface="Aptos Display"/>
                <a:ea typeface="Aptos Display"/>
                <a:cs typeface="Aptos Display"/>
              </a:rPr>
              <a:t>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77F832-4C30-40A2-98EE-935EF19A0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9048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0F6F4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F0F6F4"/>
                </a:solidFill>
                <a:latin typeface="Aptos Display"/>
                <a:ea typeface="Aptos Display"/>
                <a:cs typeface="Aptos Display"/>
              </a:rPr>
              <a:t>Why the directory matters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FDD856-4319-4F4F-B9CC-B7AD57D3A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38250"/>
            <a:ext cx="9334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B4CCCA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0">
                <a:solidFill>
                  <a:srgbClr val="B4CCCA"/>
                </a:solidFill>
                <a:latin typeface="Aptos Display"/>
                <a:ea typeface="Aptos Display"/>
                <a:cs typeface="Aptos Display"/>
              </a:rPr>
              <a:t>Programming languages carry different histories, trade-offs, and communities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F4FC89-72B1-4219-9135-55E3FE501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1095375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846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4BB7FE-2A13-45AD-AB5E-78C232E71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5238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F0F6F4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0">
                <a:solidFill>
                  <a:srgbClr val="F0F6F4"/>
                </a:solidFill>
                <a:latin typeface="Aptos Display"/>
                <a:ea typeface="Aptos Display"/>
                <a:cs typeface="Aptos Display"/>
              </a:rPr>
              <a:t>A language directory gives users a common frame for comparing options. LangSphere brings classification, history, and technical context into one interface.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E7177C-55E9-4CD5-B8F0-29D80B168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6237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F7846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FF7846"/>
                </a:solidFill>
                <a:latin typeface="Aptos Display"/>
                <a:ea typeface="Aptos Display"/>
                <a:cs typeface="Aptos Display"/>
              </a:rPr>
              <a:t>+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6ACA34-D194-46EC-9929-84F654A3E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762375"/>
            <a:ext cx="2571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0F6F4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0F6F4"/>
                </a:solidFill>
                <a:latin typeface="Aptos Display"/>
                <a:ea typeface="Aptos Display"/>
                <a:cs typeface="Aptos Display"/>
              </a:rPr>
              <a:t>Context before choice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7AF481-B133-440D-B89F-013DA0575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3743325"/>
            <a:ext cx="619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B4CCCA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0">
                <a:solidFill>
                  <a:srgbClr val="B4CCCA"/>
                </a:solidFill>
                <a:latin typeface="Aptos Display"/>
                <a:ea typeface="Aptos Display"/>
                <a:cs typeface="Aptos Display"/>
              </a:rPr>
              <a:t>A release year, creator, and category provide useful orientation before deeper research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BC7D46-4743-4F45-BF00-20D0B4FB5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8627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F7846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FF7846"/>
                </a:solidFill>
                <a:latin typeface="Aptos Display"/>
                <a:ea typeface="Aptos Display"/>
                <a:cs typeface="Aptos Display"/>
              </a:rPr>
              <a:t>+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290412-51D5-4AEE-867A-B49A4CA38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486275"/>
            <a:ext cx="2571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0F6F4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0F6F4"/>
                </a:solidFill>
                <a:latin typeface="Aptos Display"/>
                <a:ea typeface="Aptos Display"/>
                <a:cs typeface="Aptos Display"/>
              </a:rPr>
              <a:t>Comparable profiles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C62E6F-FCB4-4724-94CA-CF53F9EF0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4467225"/>
            <a:ext cx="619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B4CCCA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0">
                <a:solidFill>
                  <a:srgbClr val="B4CCCA"/>
                </a:solidFill>
                <a:latin typeface="Aptos Display"/>
                <a:ea typeface="Aptos Display"/>
                <a:cs typeface="Aptos Display"/>
              </a:rPr>
              <a:t>A repeatable section structure makes it easier to compare languages fairly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28A78B-8DA9-4F09-90FB-DD3C0BE3F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017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F7846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FF7846"/>
                </a:solidFill>
                <a:latin typeface="Aptos Display"/>
                <a:ea typeface="Aptos Display"/>
                <a:cs typeface="Aptos Display"/>
              </a:rPr>
              <a:t>+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BB5C8A-0FB9-44D2-82CF-2CDDE582D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210175"/>
            <a:ext cx="2571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0F6F4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0F6F4"/>
                </a:solidFill>
                <a:latin typeface="Aptos Display"/>
                <a:ea typeface="Aptos Display"/>
                <a:cs typeface="Aptos Display"/>
              </a:rPr>
              <a:t>Broader technical literacy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B52E80-B0D8-4A86-80ED-D2409E212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5191125"/>
            <a:ext cx="619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B4CCCA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0">
                <a:solidFill>
                  <a:srgbClr val="B4CCCA"/>
                </a:solidFill>
                <a:latin typeface="Aptos Display"/>
                <a:ea typeface="Aptos Display"/>
                <a:cs typeface="Aptos Display"/>
              </a:rPr>
              <a:t>Timeline and ecosystem context help visitors connect a language to its real-world role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9C7AFE5-B154-4520-8C50-579786C0F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B4CCCA"/>
                </a:solidFill>
                <a:latin typeface="Aptos Display"/>
                <a:ea typeface="Aptos Display"/>
                <a:cs typeface="Aptos Display"/>
              </a:defRPr>
            </a:pPr>
            <a:r>
              <a:rPr sz="750" b="1">
                <a:solidFill>
                  <a:srgbClr val="B4CCCA"/>
                </a:solidFill>
                <a:latin typeface="Aptos Display"/>
                <a:ea typeface="Aptos Display"/>
                <a:cs typeface="Aptos Display"/>
              </a:rPr>
              <a:t>LANGSPHERE  /  WEBSITE OVERVIEW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17328DB-F926-4B2C-B14E-018A06670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FF7846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FF7846"/>
                </a:solidFill>
                <a:latin typeface="Aptos Display"/>
                <a:ea typeface="Aptos Display"/>
                <a:cs typeface="Aptos Display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75864086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618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4660376-F27B-4C71-BDB7-45CEACD99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F7846"/>
                </a:solidFill>
                <a:latin typeface="Aptos Display"/>
                <a:ea typeface="Aptos Display"/>
                <a:cs typeface="Aptos Display"/>
              </a:defRPr>
            </a:pPr>
            <a:r>
              <a:rPr sz="1050" b="1">
                <a:solidFill>
                  <a:srgbClr val="FF7846"/>
                </a:solidFill>
                <a:latin typeface="Aptos Display"/>
                <a:ea typeface="Aptos Display"/>
                <a:cs typeface="Aptos Display"/>
              </a:rPr>
              <a:t>08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1A8D7C-15F3-4C48-A318-BDD794F9D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9048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0F6F4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F0F6F4"/>
                </a:solidFill>
                <a:latin typeface="Aptos Display"/>
                <a:ea typeface="Aptos Display"/>
                <a:cs typeface="Aptos Display"/>
              </a:rPr>
              <a:t>Usability and understandability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351747-5F83-4530-BB35-FBB7ED434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38250"/>
            <a:ext cx="9334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B4CCCA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0">
                <a:solidFill>
                  <a:srgbClr val="B4CCCA"/>
                </a:solidFill>
                <a:latin typeface="Aptos Display"/>
                <a:ea typeface="Aptos Display"/>
                <a:cs typeface="Aptos Display"/>
              </a:rPr>
              <a:t>A visual assessment of the live experience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221351-41DD-4F75-8269-CBE573DE0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1095375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846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53C87B-304D-41E4-8EC3-AA99882FF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0482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0D383B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38374B-B453-4047-9227-812F9E6F9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05075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7846"/>
                </a:solidFill>
                <a:latin typeface="Aptos Display"/>
                <a:ea typeface="Aptos Display"/>
                <a:cs typeface="Aptos Display"/>
              </a:defRPr>
            </a:pPr>
            <a:r>
              <a:rPr sz="1425" b="1">
                <a:solidFill>
                  <a:srgbClr val="FF7846"/>
                </a:solidFill>
                <a:latin typeface="Aptos Display"/>
                <a:ea typeface="Aptos Display"/>
                <a:cs typeface="Aptos Display"/>
              </a:rPr>
              <a:t>Clear hierarchy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D2E9F1-D17D-4258-B9E5-61575C056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57500"/>
            <a:ext cx="428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B4CCCA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0">
                <a:solidFill>
                  <a:srgbClr val="B4CCCA"/>
                </a:solidFill>
                <a:latin typeface="Aptos Display"/>
                <a:ea typeface="Aptos Display"/>
                <a:cs typeface="Aptos Display"/>
              </a:rPr>
              <a:t>The site opens with a name, a concise purpose statement, view selector, search, then filters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0CE448-A780-4983-9972-7976D47A3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286000"/>
            <a:ext cx="50482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0D383B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D70556-4DBE-4F7B-A1CB-D86B18CDA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505075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7846"/>
                </a:solidFill>
                <a:latin typeface="Aptos Display"/>
                <a:ea typeface="Aptos Display"/>
                <a:cs typeface="Aptos Display"/>
              </a:defRPr>
            </a:pPr>
            <a:r>
              <a:rPr sz="1425" b="1">
                <a:solidFill>
                  <a:srgbClr val="FF7846"/>
                </a:solidFill>
                <a:latin typeface="Aptos Display"/>
                <a:ea typeface="Aptos Display"/>
                <a:cs typeface="Aptos Display"/>
              </a:rPr>
              <a:t>Fast scanning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31FC4C-C736-45D6-8192-BEBE05EB4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857500"/>
            <a:ext cx="428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B4CCCA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0">
                <a:solidFill>
                  <a:srgbClr val="B4CCCA"/>
                </a:solidFill>
                <a:latin typeface="Aptos Display"/>
                <a:ea typeface="Aptos Display"/>
                <a:cs typeface="Aptos Display"/>
              </a:rPr>
              <a:t>Language cards surface release year, a plain-language summary, and category labels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2A0DCB-B2A5-412F-9723-604D63598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71950"/>
            <a:ext cx="50482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0D383B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A4F43A-7733-4594-B6E3-211832A56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91025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7846"/>
                </a:solidFill>
                <a:latin typeface="Aptos Display"/>
                <a:ea typeface="Aptos Display"/>
                <a:cs typeface="Aptos Display"/>
              </a:defRPr>
            </a:pPr>
            <a:r>
              <a:rPr sz="1425" b="1">
                <a:solidFill>
                  <a:srgbClr val="FF7846"/>
                </a:solidFill>
                <a:latin typeface="Aptos Display"/>
                <a:ea typeface="Aptos Display"/>
                <a:cs typeface="Aptos Display"/>
              </a:rPr>
              <a:t>Progressive detail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631779-5BD5-4F3B-915E-795FC512E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43450"/>
            <a:ext cx="428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B4CCCA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0">
                <a:solidFill>
                  <a:srgbClr val="B4CCCA"/>
                </a:solidFill>
                <a:latin typeface="Aptos Display"/>
                <a:ea typeface="Aptos Display"/>
                <a:cs typeface="Aptos Display"/>
              </a:rPr>
              <a:t>The directory remains broad while individual profiles provide deeper technical information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2BE019D-E7F4-4FF6-A96D-D81352F66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171950"/>
            <a:ext cx="50482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0D383B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2EE4B12-05D7-4202-8858-42351A711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391025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7846"/>
                </a:solidFill>
                <a:latin typeface="Aptos Display"/>
                <a:ea typeface="Aptos Display"/>
                <a:cs typeface="Aptos Display"/>
              </a:defRPr>
            </a:pPr>
            <a:r>
              <a:rPr sz="1425" b="1">
                <a:solidFill>
                  <a:srgbClr val="FF7846"/>
                </a:solidFill>
                <a:latin typeface="Aptos Display"/>
                <a:ea typeface="Aptos Display"/>
                <a:cs typeface="Aptos Display"/>
              </a:rPr>
              <a:t>Distinct visual identity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5B1B3C1-5B39-44EC-AFAB-BE3BC0AE7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743450"/>
            <a:ext cx="428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B4CCCA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0">
                <a:solidFill>
                  <a:srgbClr val="B4CCCA"/>
                </a:solidFill>
                <a:latin typeface="Aptos Display"/>
                <a:ea typeface="Aptos Display"/>
                <a:cs typeface="Aptos Display"/>
              </a:rPr>
              <a:t>Dark teal panels, warm orange highlights, and monospaced labels reinforce a technical reference tone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701DDD7-E731-4948-880C-CC2024BDB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B4CCCA"/>
                </a:solidFill>
                <a:latin typeface="Aptos Display"/>
                <a:ea typeface="Aptos Display"/>
                <a:cs typeface="Aptos Display"/>
              </a:defRPr>
            </a:pPr>
            <a:r>
              <a:rPr sz="750" b="1">
                <a:solidFill>
                  <a:srgbClr val="B4CCCA"/>
                </a:solidFill>
                <a:latin typeface="Aptos Display"/>
                <a:ea typeface="Aptos Display"/>
                <a:cs typeface="Aptos Display"/>
              </a:rPr>
              <a:t>LANGSPHERE  /  WEBSITE OVERVIEW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24668FC-0202-4F2A-98DA-94BB02F88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FF7846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FF7846"/>
                </a:solidFill>
                <a:latin typeface="Aptos Display"/>
                <a:ea typeface="Aptos Display"/>
                <a:cs typeface="Aptos Display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31922611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618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C7B647F-04EE-4984-94F7-59130E005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F7846"/>
                </a:solidFill>
                <a:latin typeface="Aptos Display"/>
                <a:ea typeface="Aptos Display"/>
                <a:cs typeface="Aptos Display"/>
              </a:defRPr>
            </a:pPr>
            <a:r>
              <a:rPr sz="1050" b="1">
                <a:solidFill>
                  <a:srgbClr val="FF7846"/>
                </a:solidFill>
                <a:latin typeface="Aptos Display"/>
                <a:ea typeface="Aptos Display"/>
                <a:cs typeface="Aptos Display"/>
              </a:rPr>
              <a:t>09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2A49A3-42A7-47BD-BB76-817971516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9048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0F6F4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F0F6F4"/>
                </a:solidFill>
                <a:latin typeface="Aptos Display"/>
                <a:ea typeface="Aptos Display"/>
                <a:cs typeface="Aptos Display"/>
              </a:rPr>
              <a:t>Screens from the live site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BF1FC5-2E84-4A49-8818-8D2D33F71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38250"/>
            <a:ext cx="9334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B4CCCA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0">
                <a:solidFill>
                  <a:srgbClr val="B4CCCA"/>
                </a:solidFill>
                <a:latin typeface="Aptos Display"/>
                <a:ea typeface="Aptos Display"/>
                <a:cs typeface="Aptos Display"/>
              </a:rPr>
              <a:t>Directory cards and the history view make the information architecture visible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BE0E8A-8E3C-4D33-B1F4-58BDFF0DA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1095375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846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3780AD-CB41-4E06-BF5F-EDBA3A0D4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2009775"/>
            <a:ext cx="5276850" cy="3028950"/>
          </a:xfrm>
          <a:prstGeom xmlns:a="http://schemas.openxmlformats.org/drawingml/2006/main" prst="roundRect">
            <a:avLst>
              <a:gd name="adj" fmla="val 2516"/>
            </a:avLst>
          </a:prstGeom>
          <a:solidFill xmlns:a="http://schemas.openxmlformats.org/drawingml/2006/main">
            <a:srgbClr val="14565A"/>
          </a:solidFill>
          <a:ln xmlns:a="http://schemas.openxmlformats.org/drawingml/2006/main" w="0">
            <a:noFill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2d0b0ef5b24747"/>
          <a:srcRect xmlns:a="http://schemas.openxmlformats.org/drawingml/2006/main" l="6" t="0" r="6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9600" y="2076450"/>
            <a:ext cx="5143500" cy="2895600"/>
          </a:xfrm>
          <a:prstGeom xmlns:a="http://schemas.openxmlformats.org/drawingml/2006/main" prst="roundRect">
            <a:avLst>
              <a:gd name="adj" fmla="val 3947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CC1A5C-6F22-47D8-92D0-7270DC838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2009775"/>
            <a:ext cx="5276850" cy="3028950"/>
          </a:xfrm>
          <a:prstGeom xmlns:a="http://schemas.openxmlformats.org/drawingml/2006/main" prst="roundRect">
            <a:avLst>
              <a:gd name="adj" fmla="val 2516"/>
            </a:avLst>
          </a:prstGeom>
          <a:solidFill xmlns:a="http://schemas.openxmlformats.org/drawingml/2006/main">
            <a:srgbClr val="14565A"/>
          </a:solidFill>
          <a:ln xmlns:a="http://schemas.openxmlformats.org/drawingml/2006/main" w="0">
            <a:noFill/>
          </a:ln>
        </p:spPr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aa7cd78e9b46d2"/>
          <a:srcRect xmlns:a="http://schemas.openxmlformats.org/drawingml/2006/main" l="6" t="0" r="6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191250" y="2076450"/>
            <a:ext cx="5143500" cy="2895600"/>
          </a:xfrm>
          <a:prstGeom xmlns:a="http://schemas.openxmlformats.org/drawingml/2006/main" prst="roundRect">
            <a:avLst>
              <a:gd name="adj" fmla="val 3947"/>
            </a:avLst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4E8425-B50A-4998-9CE9-9547C3D63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00650"/>
            <a:ext cx="514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7846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FF7846"/>
                </a:solidFill>
                <a:latin typeface="Aptos Display"/>
                <a:ea typeface="Aptos Display"/>
                <a:cs typeface="Aptos Display"/>
              </a:rPr>
              <a:t>Directory view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AFB959-F3B7-4A5D-958A-A792A4A44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7687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B4CCCA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0">
                <a:solidFill>
                  <a:srgbClr val="B4CCCA"/>
                </a:solidFill>
                <a:latin typeface="Aptos Display"/>
                <a:ea typeface="Aptos Display"/>
                <a:cs typeface="Aptos Display"/>
              </a:rPr>
              <a:t>Search, category filters, and language cards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29ED05E-B491-414B-B6E6-7113E4E64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00650"/>
            <a:ext cx="514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7846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FF7846"/>
                </a:solidFill>
                <a:latin typeface="Aptos Display"/>
                <a:ea typeface="Aptos Display"/>
                <a:cs typeface="Aptos Display"/>
              </a:rPr>
              <a:t>History timeline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0C2C66-184E-4801-97CD-E8E4FCEAD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47687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B4CCCA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0">
                <a:solidFill>
                  <a:srgbClr val="B4CCCA"/>
                </a:solidFill>
                <a:latin typeface="Aptos Display"/>
                <a:ea typeface="Aptos Display"/>
                <a:cs typeface="Aptos Display"/>
              </a:rPr>
              <a:t>Release dates and creator context arranged chronologically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774396-6631-455D-BDEE-EBC7A1F73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B4CCCA"/>
                </a:solidFill>
                <a:latin typeface="Aptos Display"/>
                <a:ea typeface="Aptos Display"/>
                <a:cs typeface="Aptos Display"/>
              </a:defRPr>
            </a:pPr>
            <a:r>
              <a:rPr sz="750" b="1">
                <a:solidFill>
                  <a:srgbClr val="B4CCCA"/>
                </a:solidFill>
                <a:latin typeface="Aptos Display"/>
                <a:ea typeface="Aptos Display"/>
                <a:cs typeface="Aptos Display"/>
              </a:rPr>
              <a:t>LANGSPHERE  /  WEBSITE OVERVIEW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B8689E5-ECE9-48E6-97A0-120ECF977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FF7846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FF7846"/>
                </a:solidFill>
                <a:latin typeface="Aptos Display"/>
                <a:ea typeface="Aptos Display"/>
                <a:cs typeface="Aptos Display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211119045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2026-09-04T09:27:25.5100000Z</dcterms:created>
  <dcterms:modified xsi:type="dcterms:W3CDTF">2026-09-04T09:27:25.5100000Z</dcterms:modified>
</coreProperties>
</file>